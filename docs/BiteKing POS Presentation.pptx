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" d="2"/>
          <a:sy n="1" d="2"/>
        </p:scale>
        <p:origin x="0" y="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72370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02430359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4274549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24127246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0654665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9428926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2767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48559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224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DDAD6A-6EB8-F4C5-5984-8E8B4A597FC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70010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028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94106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7FD65B-EA0E-01B6-2540-689C50F8C1E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1469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9284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170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0FA216-2529-2EC3-E4EF-50D57F9836B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59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9413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6893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6C5189-6DB3-461C-3709-A49B2CED62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2040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1808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262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A6793A-9769-092B-6CCE-2E2ECA8148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48854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56145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029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7C3424-8A95-96C2-14A7-10D580F43D3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9460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955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594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F8014C-2334-DDFF-0624-D8DC8CE678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0033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4268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3137AD-0BB6-2123-32B1-C3805334898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0342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8851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72285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079E5D-F833-F401-8343-4759870350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1599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2309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293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6D456F-8D68-0BA8-1BC2-21C5F445C5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7690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0726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35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868C8-F330-440E-7635-F8CFDE6BC4B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58979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1171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90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501AB8-9AB5-CF41-3A8D-D528A50F49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73302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858123707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  <p:sp>
        <p:nvSpPr>
          <p:cNvPr id="7385637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12396939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6878340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70413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6312090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794806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12447508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73756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890376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4085158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508202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16845533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441058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7031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0704873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93612744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2588053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736428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221641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4935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153092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4158643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20871452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1079442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9956654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214165043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287111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424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97755847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78103806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6415253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68037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147916350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295101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948814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21861997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74453147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3442564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12712452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903844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3263883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9228594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22887686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4735531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43977722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891752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0067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87678906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32346701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3468727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589980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50662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20799322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6132380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10236631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83235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7544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8680609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06655463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8/12/2026</a:t>
            </a:fld>
            <a:endParaRPr lang="en-US"/>
          </a:p>
        </p:txBody>
      </p:sp>
      <p:sp>
        <p:nvSpPr>
          <p:cNvPr id="141049745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0649491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1"/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media1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49057050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23844461" name="Picture 2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667000" y="4300537"/>
            <a:ext cx="6858000" cy="523875"/>
          </a:xfrm>
          <a:prstGeom prst="rect">
            <a:avLst/>
          </a:prstGeom>
        </p:spPr>
      </p:pic>
      <p:pic>
        <p:nvPicPr>
          <p:cNvPr id="326768404" name="Picture 3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504729" y="2033587"/>
            <a:ext cx="3182391" cy="304800"/>
          </a:xfrm>
          <a:prstGeom prst="rect">
            <a:avLst/>
          </a:prstGeom>
        </p:spPr>
      </p:pic>
      <p:sp>
        <p:nvSpPr>
          <p:cNvPr id="1036194741" name="TextBox 4"/>
          <p:cNvSpPr txBox="1"/>
          <p:nvPr/>
        </p:nvSpPr>
        <p:spPr bwMode="auto">
          <a:xfrm>
            <a:off x="1919387" y="2528887"/>
            <a:ext cx="8353075" cy="6412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950"/>
              </a:lnSpc>
              <a:defRPr/>
            </a:pPr>
            <a:r>
              <a:rPr sz="4400" b="1" i="0" u="none">
                <a:solidFill>
                  <a:srgbClr val="F8FAFC"/>
                </a:solidFill>
                <a:latin typeface="Plus Jakarta Sans"/>
              </a:rPr>
              <a:t>BiteKing POS &amp; Billing System</a:t>
            </a:r>
            <a:endParaRPr lang="en-US" sz="4400" b="1" i="0" u="none">
              <a:solidFill>
                <a:srgbClr val="F8FAFC"/>
              </a:solidFill>
              <a:latin typeface="Plus Jakarta Sans"/>
            </a:endParaRPr>
          </a:p>
        </p:txBody>
      </p:sp>
      <p:sp>
        <p:nvSpPr>
          <p:cNvPr id="2142489368" name="TextBox 5"/>
          <p:cNvSpPr txBox="1"/>
          <p:nvPr/>
        </p:nvSpPr>
        <p:spPr bwMode="auto">
          <a:xfrm>
            <a:off x="2286000" y="3348037"/>
            <a:ext cx="7620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  <a:defRPr/>
            </a:pPr>
            <a:r>
              <a:rPr sz="1500" b="0" i="0" u="none">
                <a:solidFill>
                  <a:srgbClr val="CBD5E1"/>
                </a:solidFill>
                <a:latin typeface="Plus Jakarta Sans"/>
              </a:rPr>
              <a:t>A Modern, Cross-Platform Restaurant Point-of-Sale Solution Built with C++17 and Qt 6 Framework</a:t>
            </a:r>
            <a:endParaRPr/>
          </a:p>
        </p:txBody>
      </p:sp>
      <p:sp>
        <p:nvSpPr>
          <p:cNvPr id="465698654" name="TextBox 6"/>
          <p:cNvSpPr txBox="1"/>
          <p:nvPr/>
        </p:nvSpPr>
        <p:spPr bwMode="auto">
          <a:xfrm>
            <a:off x="2667000" y="4500562"/>
            <a:ext cx="31051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900" b="0" i="0" u="none">
                <a:solidFill>
                  <a:srgbClr val="64748B"/>
                </a:solidFill>
                <a:latin typeface="Plus Jakarta Sans"/>
              </a:rPr>
              <a:t>TEAM MEMBERS</a:t>
            </a:r>
            <a:endParaRPr/>
          </a:p>
        </p:txBody>
      </p:sp>
      <p:sp>
        <p:nvSpPr>
          <p:cNvPr id="393218745" name="TextBox 7"/>
          <p:cNvSpPr txBox="1"/>
          <p:nvPr/>
        </p:nvSpPr>
        <p:spPr bwMode="auto">
          <a:xfrm>
            <a:off x="2667000" y="4643437"/>
            <a:ext cx="31051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150" b="0" i="0" u="none">
                <a:solidFill>
                  <a:srgbClr val="E2E8F0"/>
                </a:solidFill>
                <a:latin typeface="Plus Jakarta Sans SemiBold"/>
              </a:rPr>
              <a:t>Arshdeep Sahota | Alhan Mahfouz | Syed Razi</a:t>
            </a:r>
            <a:endParaRPr/>
          </a:p>
        </p:txBody>
      </p:sp>
      <p:sp>
        <p:nvSpPr>
          <p:cNvPr id="1537882967" name="TextBox 8"/>
          <p:cNvSpPr txBox="1"/>
          <p:nvPr/>
        </p:nvSpPr>
        <p:spPr bwMode="auto">
          <a:xfrm>
            <a:off x="6057900" y="4500562"/>
            <a:ext cx="17335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900" b="0" i="0" u="none">
                <a:solidFill>
                  <a:srgbClr val="64748B"/>
                </a:solidFill>
                <a:latin typeface="Plus Jakarta Sans"/>
              </a:rPr>
              <a:t>SECTION &amp; INSTRUCTOR</a:t>
            </a:r>
            <a:endParaRPr/>
          </a:p>
        </p:txBody>
      </p:sp>
      <p:sp>
        <p:nvSpPr>
          <p:cNvPr id="997042945" name="TextBox 9"/>
          <p:cNvSpPr txBox="1"/>
          <p:nvPr/>
        </p:nvSpPr>
        <p:spPr bwMode="auto">
          <a:xfrm>
            <a:off x="6057900" y="4643437"/>
            <a:ext cx="173355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100" b="0" i="0" u="none">
                <a:solidFill>
                  <a:srgbClr val="E2E8F0"/>
                </a:solidFill>
                <a:latin typeface="Plus Jakarta Sans SemiBold"/>
              </a:rPr>
              <a:t>Section 301 | Prof. </a:t>
            </a:r>
            <a:r>
              <a:rPr lang="en-US" sz="1100">
                <a:solidFill>
                  <a:srgbClr val="E2E8F0"/>
                </a:solidFill>
                <a:latin typeface="Plus Jakarta Sans SemiBold"/>
              </a:rPr>
              <a:t>Sanaa</a:t>
            </a:r>
            <a:endParaRPr sz="1150" b="0" i="0" u="none">
              <a:solidFill>
                <a:srgbClr val="E2E8F0"/>
              </a:solidFill>
              <a:latin typeface="Plus Jakarta Sans SemiBold"/>
            </a:endParaRPr>
          </a:p>
        </p:txBody>
      </p:sp>
      <p:sp>
        <p:nvSpPr>
          <p:cNvPr id="126053842" name="TextBox 10"/>
          <p:cNvSpPr txBox="1"/>
          <p:nvPr/>
        </p:nvSpPr>
        <p:spPr bwMode="auto">
          <a:xfrm>
            <a:off x="8077200" y="4500562"/>
            <a:ext cx="14478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900" b="0" i="0" u="none">
                <a:solidFill>
                  <a:srgbClr val="64748B"/>
                </a:solidFill>
                <a:latin typeface="Plus Jakarta Sans"/>
              </a:rPr>
              <a:t>ARCHITECTURE</a:t>
            </a:r>
            <a:endParaRPr/>
          </a:p>
        </p:txBody>
      </p:sp>
      <p:sp>
        <p:nvSpPr>
          <p:cNvPr id="614344248" name="TextBox 11"/>
          <p:cNvSpPr txBox="1"/>
          <p:nvPr/>
        </p:nvSpPr>
        <p:spPr bwMode="auto">
          <a:xfrm>
            <a:off x="8077200" y="4643437"/>
            <a:ext cx="14478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150" b="0" i="0" u="none">
                <a:solidFill>
                  <a:srgbClr val="E2E8F0"/>
                </a:solidFill>
                <a:latin typeface="Plus Jakarta Sans SemiBold"/>
              </a:rPr>
              <a:t>C++17 / Qt6 / CMake</a:t>
            </a:r>
            <a:endParaRPr/>
          </a:p>
        </p:txBody>
      </p:sp>
      <p:sp>
        <p:nvSpPr>
          <p:cNvPr id="44613285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72A9C10-3FC1-7749-74E9-57BEC53CFBB9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1176673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674517713" name="Picture 2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85775" y="2707481"/>
            <a:ext cx="5457825" cy="2138362"/>
          </a:xfrm>
          <a:prstGeom prst="rect">
            <a:avLst/>
          </a:prstGeom>
        </p:spPr>
      </p:pic>
      <p:pic>
        <p:nvPicPr>
          <p:cNvPr id="543835876" name="Picture 3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248400" y="2707481"/>
            <a:ext cx="5457825" cy="2138362"/>
          </a:xfrm>
          <a:prstGeom prst="rect">
            <a:avLst/>
          </a:prstGeom>
        </p:spPr>
      </p:pic>
      <p:pic>
        <p:nvPicPr>
          <p:cNvPr id="1433600874" name="Picture 4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85775" y="557212"/>
            <a:ext cx="260300" cy="266700"/>
          </a:xfrm>
          <a:prstGeom prst="rect">
            <a:avLst/>
          </a:prstGeom>
        </p:spPr>
      </p:pic>
      <p:sp>
        <p:nvSpPr>
          <p:cNvPr id="600677653" name="TextBox 5"/>
          <p:cNvSpPr txBox="1"/>
          <p:nvPr/>
        </p:nvSpPr>
        <p:spPr bwMode="auto">
          <a:xfrm>
            <a:off x="1044029" y="2983706"/>
            <a:ext cx="4854512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Operational Bottlenecks</a:t>
            </a:r>
            <a:endParaRPr/>
          </a:p>
        </p:txBody>
      </p:sp>
      <p:sp>
        <p:nvSpPr>
          <p:cNvPr id="740783138" name="TextBox 6"/>
          <p:cNvSpPr txBox="1"/>
          <p:nvPr/>
        </p:nvSpPr>
        <p:spPr bwMode="auto">
          <a:xfrm>
            <a:off x="762000" y="3298031"/>
            <a:ext cx="4905375" cy="642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Traditional restaurant workflows suffer from manual order logging, billing delays, and error-prone tax/discount calculations during rush hours.</a:t>
            </a:r>
            <a:endParaRPr/>
          </a:p>
        </p:txBody>
      </p:sp>
      <p:sp>
        <p:nvSpPr>
          <p:cNvPr id="1522890303" name="TextBox 7"/>
          <p:cNvSpPr txBox="1"/>
          <p:nvPr/>
        </p:nvSpPr>
        <p:spPr bwMode="auto">
          <a:xfrm>
            <a:off x="762000" y="4140993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Waitstaff need instant seat state updates, cashiers require validated change processing, and managers lack real-time financial metrics.</a:t>
            </a:r>
            <a:endParaRPr/>
          </a:p>
        </p:txBody>
      </p:sp>
      <p:sp>
        <p:nvSpPr>
          <p:cNvPr id="1294288651" name="TextBox 8"/>
          <p:cNvSpPr txBox="1"/>
          <p:nvPr/>
        </p:nvSpPr>
        <p:spPr bwMode="auto">
          <a:xfrm>
            <a:off x="6759029" y="2983706"/>
            <a:ext cx="4904519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The BiteKing Solution</a:t>
            </a:r>
            <a:endParaRPr/>
          </a:p>
        </p:txBody>
      </p:sp>
      <p:sp>
        <p:nvSpPr>
          <p:cNvPr id="1959069594" name="TextBox 9"/>
          <p:cNvSpPr txBox="1"/>
          <p:nvPr/>
        </p:nvSpPr>
        <p:spPr bwMode="auto">
          <a:xfrm>
            <a:off x="6524625" y="3298031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BiteKing bridges digital restaurant management with smooth front-of-house desktop operations using a high-performance C++ backend.</a:t>
            </a:r>
            <a:endParaRPr/>
          </a:p>
        </p:txBody>
      </p:sp>
      <p:sp>
        <p:nvSpPr>
          <p:cNvPr id="467857900" name="TextBox 10"/>
          <p:cNvSpPr txBox="1"/>
          <p:nvPr/>
        </p:nvSpPr>
        <p:spPr bwMode="auto">
          <a:xfrm>
            <a:off x="6524625" y="3926681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Delivers real-time table state tracking, automated HST (13%) tax calculations, polymorphic menu discounting, and file persistence.</a:t>
            </a:r>
            <a:endParaRPr/>
          </a:p>
        </p:txBody>
      </p:sp>
      <p:pic>
        <p:nvPicPr>
          <p:cNvPr id="492018703" name="Picture 11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62000" y="3007517"/>
            <a:ext cx="186779" cy="190500"/>
          </a:xfrm>
          <a:prstGeom prst="rect">
            <a:avLst/>
          </a:prstGeom>
        </p:spPr>
      </p:pic>
      <p:pic>
        <p:nvPicPr>
          <p:cNvPr id="1005546206" name="Picture 12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524625" y="3007517"/>
            <a:ext cx="139154" cy="190500"/>
          </a:xfrm>
          <a:prstGeom prst="rect">
            <a:avLst/>
          </a:prstGeom>
        </p:spPr>
      </p:pic>
      <p:sp>
        <p:nvSpPr>
          <p:cNvPr id="1793886883" name="TextBox 13"/>
          <p:cNvSpPr txBox="1"/>
          <p:nvPr/>
        </p:nvSpPr>
        <p:spPr bwMode="auto">
          <a:xfrm>
            <a:off x="860375" y="485775"/>
            <a:ext cx="113316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2550" b="1" i="0" u="none">
                <a:solidFill>
                  <a:srgbClr val="38BDF8"/>
                </a:solidFill>
                <a:latin typeface="Plus Jakarta Sans"/>
              </a:rPr>
              <a:t>Problem &amp; Motivation</a:t>
            </a:r>
            <a:endParaRPr/>
          </a:p>
        </p:txBody>
      </p:sp>
      <p:sp>
        <p:nvSpPr>
          <p:cNvPr id="210578332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9225F5D-5B27-880F-5AC0-9E1E505A86E7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9043133" name="Picture 3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85775" y="557212"/>
            <a:ext cx="298400" cy="266700"/>
          </a:xfrm>
          <a:prstGeom prst="rect">
            <a:avLst/>
          </a:prstGeom>
        </p:spPr>
      </p:pic>
      <p:sp>
        <p:nvSpPr>
          <p:cNvPr id="177817959" name="TextBox 4"/>
          <p:cNvSpPr txBox="1"/>
          <p:nvPr/>
        </p:nvSpPr>
        <p:spPr bwMode="auto">
          <a:xfrm>
            <a:off x="485775" y="2162175"/>
            <a:ext cx="5730716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5 Modular Operating Views</a:t>
            </a:r>
            <a:endParaRPr/>
          </a:p>
        </p:txBody>
      </p:sp>
      <p:sp>
        <p:nvSpPr>
          <p:cNvPr id="630833313" name="TextBox 5"/>
          <p:cNvSpPr txBox="1"/>
          <p:nvPr/>
        </p:nvSpPr>
        <p:spPr bwMode="auto">
          <a:xfrm>
            <a:off x="714375" y="2676525"/>
            <a:ext cx="52292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Menu Explorer: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Live dish filtering, dynamic item additions, and price/type updates.</a:t>
            </a:r>
            <a:endParaRPr/>
          </a:p>
        </p:txBody>
      </p:sp>
      <p:sp>
        <p:nvSpPr>
          <p:cNvPr id="927659545" name="TextBox 6"/>
          <p:cNvSpPr txBox="1"/>
          <p:nvPr/>
        </p:nvSpPr>
        <p:spPr bwMode="auto">
          <a:xfrm>
            <a:off x="714375" y="3219449"/>
            <a:ext cx="52292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Order Manager: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Assigns orders to active tables with bounded spinner controls.</a:t>
            </a:r>
            <a:endParaRPr/>
          </a:p>
        </p:txBody>
      </p:sp>
      <p:sp>
        <p:nvSpPr>
          <p:cNvPr id="202853067" name="TextBox 7"/>
          <p:cNvSpPr txBox="1"/>
          <p:nvPr/>
        </p:nvSpPr>
        <p:spPr bwMode="auto">
          <a:xfrm>
            <a:off x="714375" y="3762375"/>
            <a:ext cx="52292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Billing System: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Previews subtotal, 13% tax rate, happy-hour discounts, and net total.</a:t>
            </a:r>
            <a:endParaRPr/>
          </a:p>
        </p:txBody>
      </p:sp>
      <p:sp>
        <p:nvSpPr>
          <p:cNvPr id="92425593" name="TextBox 8"/>
          <p:cNvSpPr txBox="1"/>
          <p:nvPr/>
        </p:nvSpPr>
        <p:spPr bwMode="auto">
          <a:xfrm>
            <a:off x="714375" y="4305300"/>
            <a:ext cx="52292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Payment Processing: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Validates Cash/Card methods with automated change calculations.</a:t>
            </a:r>
            <a:endParaRPr/>
          </a:p>
        </p:txBody>
      </p:sp>
      <p:sp>
        <p:nvSpPr>
          <p:cNvPr id="422334076" name="TextBox 9"/>
          <p:cNvSpPr txBox="1"/>
          <p:nvPr/>
        </p:nvSpPr>
        <p:spPr bwMode="auto">
          <a:xfrm>
            <a:off x="714375" y="4848225"/>
            <a:ext cx="52292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Real-Time Analytics: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Evaluates daily sales totals and top-selling menu items.</a:t>
            </a:r>
            <a:endParaRPr/>
          </a:p>
        </p:txBody>
      </p:sp>
      <p:sp>
        <p:nvSpPr>
          <p:cNvPr id="508356002" name="TextBox 11"/>
          <p:cNvSpPr txBox="1"/>
          <p:nvPr/>
        </p:nvSpPr>
        <p:spPr bwMode="auto">
          <a:xfrm>
            <a:off x="485775" y="2676525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1604438873" name="TextBox 12"/>
          <p:cNvSpPr txBox="1"/>
          <p:nvPr/>
        </p:nvSpPr>
        <p:spPr bwMode="auto">
          <a:xfrm>
            <a:off x="485775" y="3219449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1662159693" name="TextBox 13"/>
          <p:cNvSpPr txBox="1"/>
          <p:nvPr/>
        </p:nvSpPr>
        <p:spPr bwMode="auto">
          <a:xfrm>
            <a:off x="485775" y="3762375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1007473949" name="TextBox 14"/>
          <p:cNvSpPr txBox="1"/>
          <p:nvPr/>
        </p:nvSpPr>
        <p:spPr bwMode="auto">
          <a:xfrm>
            <a:off x="485775" y="4305300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1259652779" name="TextBox 15"/>
          <p:cNvSpPr txBox="1"/>
          <p:nvPr/>
        </p:nvSpPr>
        <p:spPr bwMode="auto">
          <a:xfrm>
            <a:off x="485775" y="4848225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1087048749" name="TextBox 16"/>
          <p:cNvSpPr txBox="1"/>
          <p:nvPr/>
        </p:nvSpPr>
        <p:spPr bwMode="auto">
          <a:xfrm>
            <a:off x="898476" y="485774"/>
            <a:ext cx="112935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2550" b="1" i="0" u="none">
                <a:solidFill>
                  <a:srgbClr val="38BDF8"/>
                </a:solidFill>
                <a:latin typeface="Plus Jakarta Sans"/>
              </a:rPr>
              <a:t>System Architecture &amp; Overview</a:t>
            </a:r>
            <a:endParaRPr/>
          </a:p>
        </p:txBody>
      </p:sp>
      <p:pic>
        <p:nvPicPr>
          <p:cNvPr id="817692892" name="Picture 1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095999" y="2060521"/>
            <a:ext cx="6096001" cy="3192178"/>
          </a:xfrm>
          <a:prstGeom prst="rect">
            <a:avLst/>
          </a:prstGeom>
        </p:spPr>
      </p:pic>
      <p:sp>
        <p:nvSpPr>
          <p:cNvPr id="143330640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995618B-313E-221D-E171-2F456705C20C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722274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16676645" name="Picture 2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286500" y="9525"/>
            <a:ext cx="5895975" cy="6838950"/>
          </a:xfrm>
          <a:prstGeom prst="rect">
            <a:avLst/>
          </a:prstGeom>
        </p:spPr>
      </p:pic>
      <p:sp>
        <p:nvSpPr>
          <p:cNvPr id="653969722" name="TextBox 3"/>
          <p:cNvSpPr txBox="1"/>
          <p:nvPr/>
        </p:nvSpPr>
        <p:spPr bwMode="auto">
          <a:xfrm>
            <a:off x="898474" y="2281237"/>
            <a:ext cx="5257375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2550" b="1" i="0" u="none">
                <a:solidFill>
                  <a:srgbClr val="38BDF8"/>
                </a:solidFill>
                <a:latin typeface="Plus Jakarta Sans"/>
              </a:rPr>
              <a:t>Software Class Design</a:t>
            </a:r>
            <a:endParaRPr/>
          </a:p>
        </p:txBody>
      </p:sp>
      <p:pic>
        <p:nvPicPr>
          <p:cNvPr id="479699082" name="Picture 5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85775" y="2352675"/>
            <a:ext cx="298400" cy="266700"/>
          </a:xfrm>
          <a:prstGeom prst="rect">
            <a:avLst/>
          </a:prstGeom>
        </p:spPr>
      </p:pic>
      <p:sp>
        <p:nvSpPr>
          <p:cNvPr id="100623584" name="TextBox 6"/>
          <p:cNvSpPr txBox="1"/>
          <p:nvPr/>
        </p:nvSpPr>
        <p:spPr bwMode="auto">
          <a:xfrm>
            <a:off x="485775" y="2976562"/>
            <a:ext cx="5690711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Object Class Architecture</a:t>
            </a:r>
            <a:endParaRPr/>
          </a:p>
        </p:txBody>
      </p:sp>
      <p:sp>
        <p:nvSpPr>
          <p:cNvPr id="99739963" name="TextBox 7"/>
          <p:cNvSpPr txBox="1"/>
          <p:nvPr/>
        </p:nvSpPr>
        <p:spPr bwMode="auto">
          <a:xfrm>
            <a:off x="485775" y="3290887"/>
            <a:ext cx="54197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Base Hierarchy: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MenuItem abstract class derived into specialized FoodItem and BeverageItem entities.</a:t>
            </a:r>
            <a:endParaRPr/>
          </a:p>
        </p:txBody>
      </p:sp>
      <p:sp>
        <p:nvSpPr>
          <p:cNvPr id="554101388" name="TextBox 8"/>
          <p:cNvSpPr txBox="1"/>
          <p:nvPr/>
        </p:nvSpPr>
        <p:spPr bwMode="auto">
          <a:xfrm>
            <a:off x="485775" y="3719512"/>
            <a:ext cx="54197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Table Ownership: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DiningTable manages CustomerOrder via std::unique_ptr for single ownership memory safety.</a:t>
            </a:r>
            <a:endParaRPr/>
          </a:p>
        </p:txBody>
      </p:sp>
      <p:sp>
        <p:nvSpPr>
          <p:cNvPr id="974046946" name="TextBox 9"/>
          <p:cNvSpPr txBox="1"/>
          <p:nvPr/>
        </p:nvSpPr>
        <p:spPr bwMode="auto">
          <a:xfrm>
            <a:off x="485775" y="4148137"/>
            <a:ext cx="54197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Shared Memory: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RestaurantManager manages catalog items through std::shared_ptr.</a:t>
            </a:r>
            <a:endParaRPr/>
          </a:p>
        </p:txBody>
      </p:sp>
      <p:pic>
        <p:nvPicPr>
          <p:cNvPr id="1575956821" name="Picture 10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288936" y="672934"/>
            <a:ext cx="5898154" cy="5660572"/>
          </a:xfrm>
          <a:prstGeom prst="rect">
            <a:avLst/>
          </a:prstGeom>
        </p:spPr>
      </p:pic>
      <p:sp>
        <p:nvSpPr>
          <p:cNvPr id="5832671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4EAB0EC-4E2C-C665-4A08-69E4B878E3EF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079318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83569830" name="Picture 2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85775" y="2657475"/>
            <a:ext cx="3587799" cy="2238375"/>
          </a:xfrm>
          <a:prstGeom prst="rect">
            <a:avLst/>
          </a:prstGeom>
        </p:spPr>
      </p:pic>
      <p:pic>
        <p:nvPicPr>
          <p:cNvPr id="1250317366" name="Picture 3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302174" y="2657475"/>
            <a:ext cx="3587799" cy="2238375"/>
          </a:xfrm>
          <a:prstGeom prst="rect">
            <a:avLst/>
          </a:prstGeom>
        </p:spPr>
      </p:pic>
      <p:pic>
        <p:nvPicPr>
          <p:cNvPr id="130829869" name="Picture 4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8118574" y="2657475"/>
            <a:ext cx="3587799" cy="2238375"/>
          </a:xfrm>
          <a:prstGeom prst="rect">
            <a:avLst/>
          </a:prstGeom>
        </p:spPr>
      </p:pic>
      <p:pic>
        <p:nvPicPr>
          <p:cNvPr id="1090598638" name="Picture 5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485775" y="557212"/>
            <a:ext cx="326975" cy="266700"/>
          </a:xfrm>
          <a:prstGeom prst="rect">
            <a:avLst/>
          </a:prstGeom>
        </p:spPr>
      </p:pic>
      <p:pic>
        <p:nvPicPr>
          <p:cNvPr id="1289460438" name="Picture 6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723900" y="2895600"/>
            <a:ext cx="438149" cy="438149"/>
          </a:xfrm>
          <a:prstGeom prst="rect">
            <a:avLst/>
          </a:prstGeom>
        </p:spPr>
      </p:pic>
      <p:sp>
        <p:nvSpPr>
          <p:cNvPr id="1356150130" name="TextBox 7"/>
          <p:cNvSpPr txBox="1"/>
          <p:nvPr/>
        </p:nvSpPr>
        <p:spPr bwMode="auto">
          <a:xfrm>
            <a:off x="723900" y="3486150"/>
            <a:ext cx="326712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Inheritance &amp; Abstraction</a:t>
            </a:r>
            <a:endParaRPr/>
          </a:p>
        </p:txBody>
      </p:sp>
      <p:sp>
        <p:nvSpPr>
          <p:cNvPr id="103237877" name="TextBox 8"/>
          <p:cNvSpPr txBox="1"/>
          <p:nvPr/>
        </p:nvSpPr>
        <p:spPr bwMode="auto">
          <a:xfrm>
            <a:off x="723900" y="3800475"/>
            <a:ext cx="31115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MenuItem defines abstract pure virtual displayItem() = 0. Extended by FoodItem (cuisine, prep time) and BeverageItem (volume, fizzy status).</a:t>
            </a:r>
            <a:endParaRPr/>
          </a:p>
        </p:txBody>
      </p:sp>
      <p:pic>
        <p:nvPicPr>
          <p:cNvPr id="2085903286" name="Picture 9" descr="image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4540299" y="2895600"/>
            <a:ext cx="438149" cy="438149"/>
          </a:xfrm>
          <a:prstGeom prst="rect">
            <a:avLst/>
          </a:prstGeom>
        </p:spPr>
      </p:pic>
      <p:sp>
        <p:nvSpPr>
          <p:cNvPr id="1389990986" name="TextBox 10"/>
          <p:cNvSpPr txBox="1"/>
          <p:nvPr/>
        </p:nvSpPr>
        <p:spPr bwMode="auto">
          <a:xfrm>
            <a:off x="4540299" y="3486150"/>
            <a:ext cx="326712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Runtime Polymorphism</a:t>
            </a:r>
            <a:endParaRPr/>
          </a:p>
        </p:txBody>
      </p:sp>
      <p:sp>
        <p:nvSpPr>
          <p:cNvPr id="1782405791" name="TextBox 11"/>
          <p:cNvSpPr txBox="1"/>
          <p:nvPr/>
        </p:nvSpPr>
        <p:spPr bwMode="auto">
          <a:xfrm>
            <a:off x="4540299" y="3800475"/>
            <a:ext cx="31115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Virtual methods calculateFinalPrice() and calculateDiscountedPrice() are invoked polymorphically across heterogeneous menu lists at runtime.</a:t>
            </a:r>
            <a:endParaRPr/>
          </a:p>
        </p:txBody>
      </p:sp>
      <p:pic>
        <p:nvPicPr>
          <p:cNvPr id="924804885" name="Picture 12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356699" y="2895600"/>
            <a:ext cx="438149" cy="438149"/>
          </a:xfrm>
          <a:prstGeom prst="rect">
            <a:avLst/>
          </a:prstGeom>
        </p:spPr>
      </p:pic>
      <p:sp>
        <p:nvSpPr>
          <p:cNvPr id="1475921411" name="TextBox 13"/>
          <p:cNvSpPr txBox="1"/>
          <p:nvPr/>
        </p:nvSpPr>
        <p:spPr bwMode="auto">
          <a:xfrm>
            <a:off x="8356699" y="3486150"/>
            <a:ext cx="326712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Encapsulation &amp; Protection</a:t>
            </a:r>
            <a:endParaRPr/>
          </a:p>
        </p:txBody>
      </p:sp>
      <p:sp>
        <p:nvSpPr>
          <p:cNvPr id="1015405755" name="TextBox 14"/>
          <p:cNvSpPr txBox="1"/>
          <p:nvPr/>
        </p:nvSpPr>
        <p:spPr bwMode="auto">
          <a:xfrm>
            <a:off x="8356699" y="3800475"/>
            <a:ext cx="3111549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All core attributes remain private or protected. Setter methods enforce numeric guardrails preventing negative prices or empty string IDs.</a:t>
            </a:r>
            <a:endParaRPr/>
          </a:p>
        </p:txBody>
      </p:sp>
      <p:pic>
        <p:nvPicPr>
          <p:cNvPr id="1446409707" name="Picture 15" descr="image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823912" y="3009900"/>
            <a:ext cx="238125" cy="209550"/>
          </a:xfrm>
          <a:prstGeom prst="rect">
            <a:avLst/>
          </a:prstGeom>
        </p:spPr>
      </p:pic>
      <p:pic>
        <p:nvPicPr>
          <p:cNvPr id="1757924082" name="Picture 16" descr="image.png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>
            <a:off x="4640312" y="3009900"/>
            <a:ext cx="238125" cy="209550"/>
          </a:xfrm>
          <a:prstGeom prst="rect">
            <a:avLst/>
          </a:prstGeom>
        </p:spPr>
      </p:pic>
      <p:pic>
        <p:nvPicPr>
          <p:cNvPr id="654990928" name="Picture 17" descr="image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8442424" y="3009900"/>
            <a:ext cx="266700" cy="209550"/>
          </a:xfrm>
          <a:prstGeom prst="rect">
            <a:avLst/>
          </a:prstGeom>
        </p:spPr>
      </p:pic>
      <p:sp>
        <p:nvSpPr>
          <p:cNvPr id="1311683757" name="TextBox 18"/>
          <p:cNvSpPr txBox="1"/>
          <p:nvPr/>
        </p:nvSpPr>
        <p:spPr bwMode="auto">
          <a:xfrm>
            <a:off x="927050" y="485775"/>
            <a:ext cx="11264949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2550" b="1" i="0" u="none">
                <a:solidFill>
                  <a:srgbClr val="38BDF8"/>
                </a:solidFill>
                <a:latin typeface="Plus Jakarta Sans"/>
              </a:rPr>
              <a:t>Core C++ OOP Principles</a:t>
            </a:r>
            <a:endParaRPr/>
          </a:p>
        </p:txBody>
      </p:sp>
      <p:sp>
        <p:nvSpPr>
          <p:cNvPr id="1165921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079615-9416-C53F-21F2-A1C64CE9F496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9052936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6546050" name="Picture 2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85775" y="2707481"/>
            <a:ext cx="5457825" cy="2138362"/>
          </a:xfrm>
          <a:prstGeom prst="rect">
            <a:avLst/>
          </a:prstGeom>
        </p:spPr>
      </p:pic>
      <p:pic>
        <p:nvPicPr>
          <p:cNvPr id="1599725274" name="Picture 3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248400" y="2707481"/>
            <a:ext cx="5457825" cy="2138362"/>
          </a:xfrm>
          <a:prstGeom prst="rect">
            <a:avLst/>
          </a:prstGeom>
        </p:spPr>
      </p:pic>
      <p:pic>
        <p:nvPicPr>
          <p:cNvPr id="1086614109" name="Picture 4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85775" y="557212"/>
            <a:ext cx="326975" cy="266700"/>
          </a:xfrm>
          <a:prstGeom prst="rect">
            <a:avLst/>
          </a:prstGeom>
        </p:spPr>
      </p:pic>
      <p:sp>
        <p:nvSpPr>
          <p:cNvPr id="1753584906" name="TextBox 5"/>
          <p:cNvSpPr txBox="1"/>
          <p:nvPr/>
        </p:nvSpPr>
        <p:spPr bwMode="auto">
          <a:xfrm>
            <a:off x="857250" y="2983706"/>
            <a:ext cx="5050631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Templates &amp; Overloading</a:t>
            </a:r>
            <a:endParaRPr/>
          </a:p>
        </p:txBody>
      </p:sp>
      <p:sp>
        <p:nvSpPr>
          <p:cNvPr id="803615158" name="TextBox 6"/>
          <p:cNvSpPr txBox="1"/>
          <p:nvPr/>
        </p:nvSpPr>
        <p:spPr bwMode="auto">
          <a:xfrm>
            <a:off x="762000" y="3298031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Generic Analytics: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AnalyticsEngine operates polymorphically over Bill and Payment histories using SFINAE compile-time dispatch.</a:t>
            </a:r>
            <a:endParaRPr/>
          </a:p>
        </p:txBody>
      </p:sp>
      <p:sp>
        <p:nvSpPr>
          <p:cNvPr id="1565026601" name="TextBox 7"/>
          <p:cNvSpPr txBox="1"/>
          <p:nvPr/>
        </p:nvSpPr>
        <p:spPr bwMode="auto">
          <a:xfrm>
            <a:off x="762000" y="3926681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Operator Overloading: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Overloaded comparison operator== for item IDs and friend stream output operator&lt;&lt; for standard output logging.</a:t>
            </a:r>
            <a:endParaRPr/>
          </a:p>
        </p:txBody>
      </p:sp>
      <p:sp>
        <p:nvSpPr>
          <p:cNvPr id="2101759372" name="TextBox 8"/>
          <p:cNvSpPr txBox="1"/>
          <p:nvPr/>
        </p:nvSpPr>
        <p:spPr bwMode="auto">
          <a:xfrm>
            <a:off x="6835229" y="2983706"/>
            <a:ext cx="4824509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STL &amp; Smart Pointers</a:t>
            </a:r>
            <a:endParaRPr/>
          </a:p>
        </p:txBody>
      </p:sp>
      <p:sp>
        <p:nvSpPr>
          <p:cNvPr id="2110884421" name="TextBox 9"/>
          <p:cNvSpPr txBox="1"/>
          <p:nvPr/>
        </p:nvSpPr>
        <p:spPr bwMode="auto">
          <a:xfrm>
            <a:off x="6524625" y="3298031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STL Containers: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std::vector for cache-friendly order line storage and std::map for fast table queries.</a:t>
            </a:r>
            <a:endParaRPr/>
          </a:p>
        </p:txBody>
      </p:sp>
      <p:sp>
        <p:nvSpPr>
          <p:cNvPr id="518893203" name="TextBox 10"/>
          <p:cNvSpPr txBox="1"/>
          <p:nvPr/>
        </p:nvSpPr>
        <p:spPr bwMode="auto">
          <a:xfrm>
            <a:off x="6524625" y="3926681"/>
            <a:ext cx="4905375" cy="642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Smart Pointer Memory: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std::shared_ptr for shared menu catalog instances and std::unique_ptr for exclusive table lifecycle management.</a:t>
            </a:r>
            <a:endParaRPr/>
          </a:p>
        </p:txBody>
      </p:sp>
      <p:pic>
        <p:nvPicPr>
          <p:cNvPr id="1890256440" name="Picture 11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524625" y="3007517"/>
            <a:ext cx="215354" cy="190500"/>
          </a:xfrm>
          <a:prstGeom prst="rect">
            <a:avLst/>
          </a:prstGeom>
        </p:spPr>
      </p:pic>
      <p:sp>
        <p:nvSpPr>
          <p:cNvPr id="1126622871" name="TextBox 12"/>
          <p:cNvSpPr txBox="1"/>
          <p:nvPr/>
        </p:nvSpPr>
        <p:spPr bwMode="auto">
          <a:xfrm>
            <a:off x="927050" y="485775"/>
            <a:ext cx="11264949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2550" b="1" i="0" u="none">
                <a:solidFill>
                  <a:srgbClr val="38BDF8"/>
                </a:solidFill>
                <a:latin typeface="Plus Jakarta Sans"/>
              </a:rPr>
              <a:t>Advanced C++ Features</a:t>
            </a:r>
            <a:endParaRPr/>
          </a:p>
        </p:txBody>
      </p:sp>
      <p:sp>
        <p:nvSpPr>
          <p:cNvPr id="158127807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C508C9C-FEBA-A0B5-4511-10AB2F527A3A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96828553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704028787" name="Picture 3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85775" y="557212"/>
            <a:ext cx="298400" cy="266700"/>
          </a:xfrm>
          <a:prstGeom prst="rect">
            <a:avLst/>
          </a:prstGeom>
        </p:spPr>
      </p:pic>
      <p:sp>
        <p:nvSpPr>
          <p:cNvPr id="1882129341" name="Rounded Rectangle 5"/>
          <p:cNvSpPr/>
          <p:nvPr/>
        </p:nvSpPr>
        <p:spPr bwMode="auto">
          <a:xfrm>
            <a:off x="6248400" y="2324100"/>
            <a:ext cx="5457825" cy="752475"/>
          </a:xfrm>
          <a:prstGeom prst="roundRect">
            <a:avLst>
              <a:gd name="adj" fmla="val 1265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3962975" name="TextBox 6"/>
          <p:cNvSpPr txBox="1"/>
          <p:nvPr/>
        </p:nvSpPr>
        <p:spPr bwMode="auto">
          <a:xfrm>
            <a:off x="6762750" y="2476500"/>
            <a:ext cx="4752975" cy="44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Responsive Layout Packing: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Nested QHBoxLayout, QVBoxLayout, and QGridLayout wrappers prevent UI stretching.</a:t>
            </a:r>
            <a:endParaRPr/>
          </a:p>
        </p:txBody>
      </p:sp>
      <p:sp>
        <p:nvSpPr>
          <p:cNvPr id="1972599384" name="Rounded Rectangle 7"/>
          <p:cNvSpPr/>
          <p:nvPr/>
        </p:nvSpPr>
        <p:spPr bwMode="auto">
          <a:xfrm>
            <a:off x="6248400" y="3343275"/>
            <a:ext cx="5457825" cy="752475"/>
          </a:xfrm>
          <a:prstGeom prst="roundRect">
            <a:avLst>
              <a:gd name="adj" fmla="val 1265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8875291" name="TextBox 8"/>
          <p:cNvSpPr txBox="1"/>
          <p:nvPr/>
        </p:nvSpPr>
        <p:spPr bwMode="auto">
          <a:xfrm>
            <a:off x="6762750" y="3495675"/>
            <a:ext cx="4752975" cy="44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Signal &amp; Slot Communication: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Event-driven architecture binds table seat button clicks directly to order updates.</a:t>
            </a:r>
            <a:endParaRPr/>
          </a:p>
        </p:txBody>
      </p:sp>
      <p:sp>
        <p:nvSpPr>
          <p:cNvPr id="2104961260" name="Rounded Rectangle 9"/>
          <p:cNvSpPr/>
          <p:nvPr/>
        </p:nvSpPr>
        <p:spPr bwMode="auto">
          <a:xfrm>
            <a:off x="6248400" y="4362450"/>
            <a:ext cx="5457825" cy="752475"/>
          </a:xfrm>
          <a:prstGeom prst="roundRect">
            <a:avLst>
              <a:gd name="adj" fmla="val 1265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9470588" name="TextBox 10"/>
          <p:cNvSpPr txBox="1"/>
          <p:nvPr/>
        </p:nvSpPr>
        <p:spPr bwMode="auto">
          <a:xfrm>
            <a:off x="6762750" y="4514850"/>
            <a:ext cx="4752975" cy="44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Dynamic QSS Theme Switcher: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Dark and Light modes with custom input field overrides.</a:t>
            </a:r>
            <a:endParaRPr/>
          </a:p>
        </p:txBody>
      </p:sp>
      <p:sp>
        <p:nvSpPr>
          <p:cNvPr id="748819557" name="TextBox 11"/>
          <p:cNvSpPr txBox="1"/>
          <p:nvPr/>
        </p:nvSpPr>
        <p:spPr bwMode="auto">
          <a:xfrm>
            <a:off x="6248400" y="2476500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1220369675" name="Rectangle 12"/>
          <p:cNvSpPr/>
          <p:nvPr/>
        </p:nvSpPr>
        <p:spPr bwMode="auto">
          <a:xfrm>
            <a:off x="6248400" y="3067050"/>
            <a:ext cx="54578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8428394" name="TextBox 13"/>
          <p:cNvSpPr txBox="1"/>
          <p:nvPr/>
        </p:nvSpPr>
        <p:spPr bwMode="auto">
          <a:xfrm>
            <a:off x="6248400" y="3495675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1001258791" name="Rectangle 14"/>
          <p:cNvSpPr/>
          <p:nvPr/>
        </p:nvSpPr>
        <p:spPr bwMode="auto">
          <a:xfrm>
            <a:off x="6248400" y="4086225"/>
            <a:ext cx="54578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8275890" name="TextBox 15"/>
          <p:cNvSpPr txBox="1"/>
          <p:nvPr/>
        </p:nvSpPr>
        <p:spPr bwMode="auto">
          <a:xfrm>
            <a:off x="6248400" y="4514850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2102528987" name="Rectangle 16"/>
          <p:cNvSpPr/>
          <p:nvPr/>
        </p:nvSpPr>
        <p:spPr bwMode="auto">
          <a:xfrm>
            <a:off x="6248400" y="5105400"/>
            <a:ext cx="54578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3218856" name="Picture 17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448425" y="2500312"/>
            <a:ext cx="190500" cy="200025"/>
          </a:xfrm>
          <a:prstGeom prst="rect">
            <a:avLst/>
          </a:prstGeom>
        </p:spPr>
      </p:pic>
      <p:pic>
        <p:nvPicPr>
          <p:cNvPr id="1304986406" name="Picture 18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448425" y="3519487"/>
            <a:ext cx="171450" cy="200025"/>
          </a:xfrm>
          <a:prstGeom prst="rect">
            <a:avLst/>
          </a:prstGeom>
        </p:spPr>
      </p:pic>
      <p:pic>
        <p:nvPicPr>
          <p:cNvPr id="738710474" name="Picture 19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448425" y="4538662"/>
            <a:ext cx="190500" cy="200025"/>
          </a:xfrm>
          <a:prstGeom prst="rect">
            <a:avLst/>
          </a:prstGeom>
        </p:spPr>
      </p:pic>
      <p:sp>
        <p:nvSpPr>
          <p:cNvPr id="1669212073" name="TextBox 20"/>
          <p:cNvSpPr txBox="1"/>
          <p:nvPr/>
        </p:nvSpPr>
        <p:spPr bwMode="auto">
          <a:xfrm>
            <a:off x="898474" y="485775"/>
            <a:ext cx="112935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2550" b="1" i="0" u="none">
                <a:solidFill>
                  <a:srgbClr val="38BDF8"/>
                </a:solidFill>
                <a:latin typeface="Plus Jakarta Sans"/>
              </a:rPr>
              <a:t>GUI Demonstration &amp; Qt6 Architecture</a:t>
            </a:r>
            <a:endParaRPr/>
          </a:p>
        </p:txBody>
      </p:sp>
      <p:pic>
        <p:nvPicPr>
          <p:cNvPr id="1565027873" name="Picture 21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118752" y="2225178"/>
            <a:ext cx="5868390" cy="2991511"/>
          </a:xfrm>
          <a:prstGeom prst="rect">
            <a:avLst/>
          </a:prstGeom>
        </p:spPr>
      </p:pic>
      <p:sp>
        <p:nvSpPr>
          <p:cNvPr id="12432699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1C0D89C-CB30-C96D-6842-0D5ED4A51595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03031255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2631627" name="Picture 2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85775" y="2614612"/>
            <a:ext cx="5457825" cy="2324100"/>
          </a:xfrm>
          <a:prstGeom prst="rect">
            <a:avLst/>
          </a:prstGeom>
        </p:spPr>
      </p:pic>
      <p:pic>
        <p:nvPicPr>
          <p:cNvPr id="647463116" name="Picture 3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248400" y="2614612"/>
            <a:ext cx="5457825" cy="2324100"/>
          </a:xfrm>
          <a:prstGeom prst="rect">
            <a:avLst/>
          </a:prstGeom>
        </p:spPr>
      </p:pic>
      <p:pic>
        <p:nvPicPr>
          <p:cNvPr id="310240476" name="Picture 4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85775" y="557212"/>
            <a:ext cx="231725" cy="266700"/>
          </a:xfrm>
          <a:prstGeom prst="rect">
            <a:avLst/>
          </a:prstGeom>
        </p:spPr>
      </p:pic>
      <p:sp>
        <p:nvSpPr>
          <p:cNvPr id="2136104766" name="TextBox 5"/>
          <p:cNvSpPr txBox="1"/>
          <p:nvPr/>
        </p:nvSpPr>
        <p:spPr bwMode="auto">
          <a:xfrm>
            <a:off x="996403" y="2890837"/>
            <a:ext cx="4904519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Polymorphic Serialization</a:t>
            </a:r>
            <a:endParaRPr/>
          </a:p>
        </p:txBody>
      </p:sp>
      <p:sp>
        <p:nvSpPr>
          <p:cNvPr id="1426122908" name="TextBox 6"/>
          <p:cNvSpPr txBox="1"/>
          <p:nvPr/>
        </p:nvSpPr>
        <p:spPr bwMode="auto">
          <a:xfrm>
            <a:off x="762000" y="3205162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Menu catalog stored in structured pipe-delimited local file format menu.txt.</a:t>
            </a:r>
            <a:endParaRPr/>
          </a:p>
        </p:txBody>
      </p:sp>
      <p:sp>
        <p:nvSpPr>
          <p:cNvPr id="443341600" name="TextBox 7"/>
          <p:cNvSpPr txBox="1"/>
          <p:nvPr/>
        </p:nvSpPr>
        <p:spPr bwMode="auto">
          <a:xfrm>
            <a:off x="762000" y="3833812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Starts each record line with concrete type tags (FOOD or BEV) enabling seamless factory reconstruction on startup:</a:t>
            </a:r>
            <a:endParaRPr/>
          </a:p>
        </p:txBody>
      </p:sp>
      <p:sp>
        <p:nvSpPr>
          <p:cNvPr id="1690333546" name="TextBox 8"/>
          <p:cNvSpPr txBox="1"/>
          <p:nvPr/>
        </p:nvSpPr>
        <p:spPr bwMode="auto">
          <a:xfrm>
            <a:off x="6806654" y="2890837"/>
            <a:ext cx="4854512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38BDF8"/>
                </a:solidFill>
                <a:latin typeface="Plus Jakarta Sans SemiBold"/>
              </a:rPr>
              <a:t>Transaction Logging</a:t>
            </a:r>
            <a:endParaRPr/>
          </a:p>
        </p:txBody>
      </p:sp>
      <p:sp>
        <p:nvSpPr>
          <p:cNvPr id="321104905" name="TextBox 9"/>
          <p:cNvSpPr txBox="1"/>
          <p:nvPr/>
        </p:nvSpPr>
        <p:spPr bwMode="auto">
          <a:xfrm>
            <a:off x="6524625" y="3205162"/>
            <a:ext cx="490537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The DataManager persistent logging subsystem reads and writes transaction streams.</a:t>
            </a:r>
            <a:endParaRPr/>
          </a:p>
        </p:txBody>
      </p:sp>
      <p:sp>
        <p:nvSpPr>
          <p:cNvPr id="1980455569" name="TextBox 10"/>
          <p:cNvSpPr txBox="1"/>
          <p:nvPr/>
        </p:nvSpPr>
        <p:spPr bwMode="auto">
          <a:xfrm>
            <a:off x="6524625" y="3833812"/>
            <a:ext cx="4905375" cy="642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0" i="0" u="none">
                <a:solidFill>
                  <a:srgbClr val="94A3B8"/>
                </a:solidFill>
                <a:latin typeface="Plus Jakarta Sans"/>
              </a:rPr>
              <a:t>Saves completed bills, customer orders, and payment histories to track financial metrics and historical sales continuity across application restarts.</a:t>
            </a:r>
            <a:endParaRPr/>
          </a:p>
        </p:txBody>
      </p:sp>
      <p:pic>
        <p:nvPicPr>
          <p:cNvPr id="1061675152" name="Picture 11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62000" y="2914650"/>
            <a:ext cx="139154" cy="190500"/>
          </a:xfrm>
          <a:prstGeom prst="rect">
            <a:avLst/>
          </a:prstGeom>
        </p:spPr>
      </p:pic>
      <p:pic>
        <p:nvPicPr>
          <p:cNvPr id="1671992853" name="Picture 12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524625" y="2914650"/>
            <a:ext cx="186779" cy="190500"/>
          </a:xfrm>
          <a:prstGeom prst="rect">
            <a:avLst/>
          </a:prstGeom>
        </p:spPr>
      </p:pic>
      <p:sp>
        <p:nvSpPr>
          <p:cNvPr id="1764651507" name="TextBox 13"/>
          <p:cNvSpPr txBox="1"/>
          <p:nvPr/>
        </p:nvSpPr>
        <p:spPr bwMode="auto">
          <a:xfrm>
            <a:off x="831800" y="485775"/>
            <a:ext cx="11360199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2550" b="1" i="0" u="none">
                <a:solidFill>
                  <a:srgbClr val="38BDF8"/>
                </a:solidFill>
                <a:latin typeface="Plus Jakarta Sans"/>
              </a:rPr>
              <a:t>Data Persistence &amp; File I/O</a:t>
            </a:r>
            <a:endParaRPr/>
          </a:p>
        </p:txBody>
      </p:sp>
      <p:sp>
        <p:nvSpPr>
          <p:cNvPr id="87891761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DE1E2BC-0EB5-502F-2FAE-DD449562F840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58665090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96285203" name="Picture 2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85775" y="557212"/>
            <a:ext cx="260300" cy="266700"/>
          </a:xfrm>
          <a:prstGeom prst="rect">
            <a:avLst/>
          </a:prstGeom>
        </p:spPr>
      </p:pic>
      <p:graphicFrame>
        <p:nvGraphicFramePr>
          <p:cNvPr id="571307836" name="Table 3"/>
          <p:cNvGraphicFramePr>
            <a:graphicFrameLocks xmlns:a="http://schemas.openxmlformats.org/drawingml/2006/main" noGrp="1"/>
          </p:cNvGraphicFramePr>
          <p:nvPr/>
        </p:nvGraphicFramePr>
        <p:xfrm rot="0">
          <a:off x="485775" y="2333625"/>
          <a:ext cx="11201398" cy="2886075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628155"/>
                <a:gridCol w="2928491"/>
                <a:gridCol w="4543127"/>
                <a:gridCol w="1101625"/>
              </a:tblGrid>
              <a:tr h="481012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150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Test Case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150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Target Input / Action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150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Expected Behavior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150" b="0" i="0" u="none">
                          <a:solidFill>
                            <a:srgbClr val="38BDF8"/>
                          </a:solidFill>
                          <a:latin typeface="Plus Jakarta Sans SemiBold"/>
                        </a:rPr>
                        <a:t>Status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481012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1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Menu Addition Validation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Short Name "A", Price: $0.00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Rejected with validation popup message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 SemiBold"/>
                        </a:rPr>
                        <a:t>PASS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481012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1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Duplicate ID Check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Add existing ID "ITEM-0001"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Addition blocked; duplicate warning shown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 SemiBold"/>
                        </a:rPr>
                        <a:t>PASS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481012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1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Boundary Limits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Order Quantity: -1 or 101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Input bounded strictly by QSpinBox [1..100]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 SemiBold"/>
                        </a:rPr>
                        <a:t>PASS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481012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1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Insufficient Cash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Cash Tendered $10 for $15 Bill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Payment blocked with "Insufficient Cash" warning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 SemiBold"/>
                        </a:rPr>
                        <a:t>PASS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  <a:tr h="481015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1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Card Payment Lock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Select "Card" mode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Cash field disabled; payment auto-locked to total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050" b="0" i="0" u="none">
                          <a:solidFill>
                            <a:srgbClr val="94A3B8"/>
                          </a:solidFill>
                          <a:latin typeface="Plus Jakarta Sans SemiBold"/>
                        </a:rPr>
                        <a:t>PASS</a:t>
                      </a:r>
                      <a:endParaRPr/>
                    </a:p>
                  </a:txBody>
                  <a:tcPr marL="63500" marR="63500" marT="25400" marB="25400" anchor="ctr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746904428" name="Rectangle 4"/>
          <p:cNvSpPr/>
          <p:nvPr/>
        </p:nvSpPr>
        <p:spPr bwMode="auto">
          <a:xfrm>
            <a:off x="495300" y="2824162"/>
            <a:ext cx="262815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14062833" name="Rectangle 5"/>
          <p:cNvSpPr/>
          <p:nvPr/>
        </p:nvSpPr>
        <p:spPr bwMode="auto">
          <a:xfrm>
            <a:off x="3123455" y="2824162"/>
            <a:ext cx="292849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6531281" name="Rectangle 6"/>
          <p:cNvSpPr/>
          <p:nvPr/>
        </p:nvSpPr>
        <p:spPr bwMode="auto">
          <a:xfrm>
            <a:off x="6051946" y="2824162"/>
            <a:ext cx="454312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3802821" name="Rectangle 7"/>
          <p:cNvSpPr/>
          <p:nvPr/>
        </p:nvSpPr>
        <p:spPr bwMode="auto">
          <a:xfrm>
            <a:off x="10595074" y="2824162"/>
            <a:ext cx="11016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2775685" name="Rectangle 8"/>
          <p:cNvSpPr/>
          <p:nvPr/>
        </p:nvSpPr>
        <p:spPr bwMode="auto">
          <a:xfrm>
            <a:off x="495300" y="3300412"/>
            <a:ext cx="262815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6037828" name="Rectangle 9"/>
          <p:cNvSpPr/>
          <p:nvPr/>
        </p:nvSpPr>
        <p:spPr bwMode="auto">
          <a:xfrm>
            <a:off x="3123455" y="3300412"/>
            <a:ext cx="2928491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84235329" name="Rectangle 10"/>
          <p:cNvSpPr/>
          <p:nvPr/>
        </p:nvSpPr>
        <p:spPr bwMode="auto">
          <a:xfrm>
            <a:off x="6051946" y="3300412"/>
            <a:ext cx="4543127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57455768" name="Rectangle 11"/>
          <p:cNvSpPr/>
          <p:nvPr/>
        </p:nvSpPr>
        <p:spPr bwMode="auto">
          <a:xfrm>
            <a:off x="10595074" y="3300412"/>
            <a:ext cx="110162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8218498" name="Rectangle 12"/>
          <p:cNvSpPr/>
          <p:nvPr/>
        </p:nvSpPr>
        <p:spPr bwMode="auto">
          <a:xfrm>
            <a:off x="495300" y="3776662"/>
            <a:ext cx="262815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582867" name="Rectangle 13"/>
          <p:cNvSpPr/>
          <p:nvPr/>
        </p:nvSpPr>
        <p:spPr bwMode="auto">
          <a:xfrm>
            <a:off x="3123455" y="3776662"/>
            <a:ext cx="2928491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01240588" name="Rectangle 14"/>
          <p:cNvSpPr/>
          <p:nvPr/>
        </p:nvSpPr>
        <p:spPr bwMode="auto">
          <a:xfrm>
            <a:off x="6051946" y="3776662"/>
            <a:ext cx="4543127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3856287" name="Rectangle 15"/>
          <p:cNvSpPr/>
          <p:nvPr/>
        </p:nvSpPr>
        <p:spPr bwMode="auto">
          <a:xfrm>
            <a:off x="10595074" y="3776662"/>
            <a:ext cx="110162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96538295" name="Rectangle 16"/>
          <p:cNvSpPr/>
          <p:nvPr/>
        </p:nvSpPr>
        <p:spPr bwMode="auto">
          <a:xfrm>
            <a:off x="495300" y="4257675"/>
            <a:ext cx="262815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4662678" name="Rectangle 17"/>
          <p:cNvSpPr/>
          <p:nvPr/>
        </p:nvSpPr>
        <p:spPr bwMode="auto">
          <a:xfrm>
            <a:off x="3123455" y="4257675"/>
            <a:ext cx="2928491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9465441" name="Rectangle 18"/>
          <p:cNvSpPr/>
          <p:nvPr/>
        </p:nvSpPr>
        <p:spPr bwMode="auto">
          <a:xfrm>
            <a:off x="6051946" y="4257675"/>
            <a:ext cx="4543127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27198336" name="Rectangle 19"/>
          <p:cNvSpPr/>
          <p:nvPr/>
        </p:nvSpPr>
        <p:spPr bwMode="auto">
          <a:xfrm>
            <a:off x="10595074" y="4257675"/>
            <a:ext cx="110162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6190702" name="Rectangle 20"/>
          <p:cNvSpPr/>
          <p:nvPr/>
        </p:nvSpPr>
        <p:spPr bwMode="auto">
          <a:xfrm>
            <a:off x="495300" y="4733925"/>
            <a:ext cx="262815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12313601" name="Rectangle 21"/>
          <p:cNvSpPr/>
          <p:nvPr/>
        </p:nvSpPr>
        <p:spPr bwMode="auto">
          <a:xfrm>
            <a:off x="3123455" y="4733925"/>
            <a:ext cx="2928491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46156908" name="Rectangle 22"/>
          <p:cNvSpPr/>
          <p:nvPr/>
        </p:nvSpPr>
        <p:spPr bwMode="auto">
          <a:xfrm>
            <a:off x="6051946" y="4733925"/>
            <a:ext cx="4543127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6871512" name="Rectangle 23"/>
          <p:cNvSpPr/>
          <p:nvPr/>
        </p:nvSpPr>
        <p:spPr bwMode="auto">
          <a:xfrm>
            <a:off x="10595074" y="4733925"/>
            <a:ext cx="1101625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5788928" name="TextBox 24"/>
          <p:cNvSpPr txBox="1"/>
          <p:nvPr/>
        </p:nvSpPr>
        <p:spPr bwMode="auto">
          <a:xfrm>
            <a:off x="860375" y="485775"/>
            <a:ext cx="113316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2550" b="1" i="0" u="none">
                <a:solidFill>
                  <a:srgbClr val="38BDF8"/>
                </a:solidFill>
                <a:latin typeface="Plus Jakarta Sans"/>
              </a:rPr>
              <a:t>Testing Matrix &amp; Edge Cases</a:t>
            </a:r>
            <a:endParaRPr/>
          </a:p>
        </p:txBody>
      </p:sp>
      <p:sp>
        <p:nvSpPr>
          <p:cNvPr id="77613033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A682B9E-D9F1-466F-EC9E-986D44BA8B43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3812235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43756796" name="Picture 2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85775" y="2019300"/>
            <a:ext cx="5514975" cy="1609724"/>
          </a:xfrm>
          <a:prstGeom prst="rect">
            <a:avLst/>
          </a:prstGeom>
        </p:spPr>
      </p:pic>
      <p:pic>
        <p:nvPicPr>
          <p:cNvPr id="1493481011" name="Picture 3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91250" y="2019300"/>
            <a:ext cx="5514975" cy="1609724"/>
          </a:xfrm>
          <a:prstGeom prst="rect">
            <a:avLst/>
          </a:prstGeom>
        </p:spPr>
      </p:pic>
      <p:pic>
        <p:nvPicPr>
          <p:cNvPr id="288489149" name="Picture 6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85775" y="557212"/>
            <a:ext cx="260300" cy="266700"/>
          </a:xfrm>
          <a:prstGeom prst="rect">
            <a:avLst/>
          </a:prstGeom>
        </p:spPr>
      </p:pic>
      <p:sp>
        <p:nvSpPr>
          <p:cNvPr id="803554834" name="TextBox 7"/>
          <p:cNvSpPr txBox="1"/>
          <p:nvPr/>
        </p:nvSpPr>
        <p:spPr bwMode="auto">
          <a:xfrm>
            <a:off x="704850" y="2238375"/>
            <a:ext cx="5330666" cy="238125"/>
          </a:xfrm>
          <a:prstGeom prst="rect">
            <a:avLst/>
          </a:prstGeom>
          <a:noFill/>
        </p:spPr>
        <p:txBody>
          <a:bodyPr wrap="square" lIns="215354" tIns="0" rIns="0" bIns="0" anchor="t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Linux GTK Theme Collision</a:t>
            </a:r>
            <a:endParaRPr/>
          </a:p>
        </p:txBody>
      </p:sp>
      <p:sp>
        <p:nvSpPr>
          <p:cNvPr id="1882436674" name="TextBox 8"/>
          <p:cNvSpPr txBox="1"/>
          <p:nvPr/>
        </p:nvSpPr>
        <p:spPr bwMode="auto">
          <a:xfrm>
            <a:off x="704850" y="2552700"/>
            <a:ext cx="50768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687"/>
              </a:lnSpc>
              <a:defRPr/>
            </a:pPr>
            <a:r>
              <a:rPr sz="1100" b="1" i="0" u="none">
                <a:solidFill>
                  <a:srgbClr val="E2E8F0"/>
                </a:solidFill>
                <a:latin typeface="Plus Jakarta Sans"/>
              </a:rPr>
              <a:t>Challenge:</a:t>
            </a:r>
            <a:r>
              <a:rPr sz="1100" b="0" i="0" u="none">
                <a:solidFill>
                  <a:srgbClr val="94A3B8"/>
                </a:solidFill>
                <a:latin typeface="Plus Jakarta Sans"/>
              </a:rPr>
              <a:t> </a:t>
            </a:r>
            <a:r>
              <a:rPr sz="1100" b="0" i="0" u="none">
                <a:solidFill>
                  <a:srgbClr val="94A3B8"/>
                </a:solidFill>
                <a:latin typeface="Plus Jakarta Sans"/>
              </a:rPr>
              <a:t>Unstyled</a:t>
            </a:r>
            <a:r>
              <a:rPr sz="1100" b="0" i="0" u="none">
                <a:solidFill>
                  <a:srgbClr val="94A3B8"/>
                </a:solidFill>
                <a:latin typeface="Plus Jakarta Sans"/>
              </a:rPr>
              <a:t> </a:t>
            </a:r>
            <a:r>
              <a:rPr sz="1100" b="0" i="0" u="none">
                <a:solidFill>
                  <a:srgbClr val="94A3B8"/>
                </a:solidFill>
                <a:latin typeface="Plus Jakarta Sans"/>
              </a:rPr>
              <a:t>QLineEdit</a:t>
            </a:r>
            <a:r>
              <a:rPr sz="1100" b="0" i="0" u="none">
                <a:solidFill>
                  <a:srgbClr val="94A3B8"/>
                </a:solidFill>
                <a:latin typeface="Plus Jakarta Sans"/>
              </a:rPr>
              <a:t> search boxes inherited dark system text on dark backgrounds when switching themes.</a:t>
            </a:r>
            <a:r>
              <a:rPr lang="en-US" sz="1100">
                <a:solidFill>
                  <a:srgbClr val="94A3B8"/>
                </a:solidFill>
                <a:latin typeface="Plus Jakarta Sans"/>
              </a:rPr>
              <a:t> </a:t>
            </a:r>
            <a:endParaRPr lang="en-US" sz="1100" b="0" i="0" u="none">
              <a:solidFill>
                <a:srgbClr val="94A3B8"/>
              </a:solidFill>
              <a:latin typeface="Plus Jakarta Sans"/>
            </a:endParaRPr>
          </a:p>
        </p:txBody>
      </p:sp>
      <p:sp>
        <p:nvSpPr>
          <p:cNvPr id="103210115" name="TextBox 9"/>
          <p:cNvSpPr txBox="1"/>
          <p:nvPr/>
        </p:nvSpPr>
        <p:spPr bwMode="auto">
          <a:xfrm>
            <a:off x="704850" y="2981325"/>
            <a:ext cx="50768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Solution: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Explicitly styled QLineEdit and QTableCornerButton elements inside stylesheet rules.</a:t>
            </a:r>
            <a:endParaRPr/>
          </a:p>
        </p:txBody>
      </p:sp>
      <p:sp>
        <p:nvSpPr>
          <p:cNvPr id="597824890" name="TextBox 10"/>
          <p:cNvSpPr txBox="1"/>
          <p:nvPr/>
        </p:nvSpPr>
        <p:spPr bwMode="auto">
          <a:xfrm>
            <a:off x="6410325" y="2238375"/>
            <a:ext cx="5330666" cy="238125"/>
          </a:xfrm>
          <a:prstGeom prst="rect">
            <a:avLst/>
          </a:prstGeom>
          <a:noFill/>
        </p:spPr>
        <p:txBody>
          <a:bodyPr wrap="square" lIns="120104" tIns="0" rIns="0" bIns="0" anchor="t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QComboBox Arrow Disappearance</a:t>
            </a:r>
            <a:endParaRPr/>
          </a:p>
        </p:txBody>
      </p:sp>
      <p:sp>
        <p:nvSpPr>
          <p:cNvPr id="568454792" name="TextBox 11"/>
          <p:cNvSpPr txBox="1"/>
          <p:nvPr/>
        </p:nvSpPr>
        <p:spPr bwMode="auto">
          <a:xfrm>
            <a:off x="6410325" y="2552700"/>
            <a:ext cx="50768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Challenge: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Applying custom border styles disabled native dropdown arrow rendering in combo boxes.</a:t>
            </a:r>
            <a:endParaRPr/>
          </a:p>
        </p:txBody>
      </p:sp>
      <p:sp>
        <p:nvSpPr>
          <p:cNvPr id="1933780284" name="TextBox 12"/>
          <p:cNvSpPr txBox="1"/>
          <p:nvPr/>
        </p:nvSpPr>
        <p:spPr bwMode="auto">
          <a:xfrm>
            <a:off x="6410325" y="2981325"/>
            <a:ext cx="50768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Solution: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Implemented pure CSS/QSS downward arrows using border tricks in custom stylesheet rules.</a:t>
            </a:r>
            <a:endParaRPr/>
          </a:p>
        </p:txBody>
      </p:sp>
      <p:pic>
        <p:nvPicPr>
          <p:cNvPr id="2106751846" name="Picture 19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04850" y="2276475"/>
            <a:ext cx="215354" cy="190500"/>
          </a:xfrm>
          <a:prstGeom prst="rect">
            <a:avLst/>
          </a:prstGeom>
        </p:spPr>
      </p:pic>
      <p:pic>
        <p:nvPicPr>
          <p:cNvPr id="594253847" name="Picture 20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410325" y="2276475"/>
            <a:ext cx="120104" cy="190500"/>
          </a:xfrm>
          <a:prstGeom prst="rect">
            <a:avLst/>
          </a:prstGeom>
        </p:spPr>
      </p:pic>
      <p:sp>
        <p:nvSpPr>
          <p:cNvPr id="462037857" name="TextBox 21"/>
          <p:cNvSpPr txBox="1"/>
          <p:nvPr/>
        </p:nvSpPr>
        <p:spPr bwMode="auto">
          <a:xfrm>
            <a:off x="860375" y="485775"/>
            <a:ext cx="113316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2550" b="1" i="0" u="none">
                <a:solidFill>
                  <a:srgbClr val="38BDF8"/>
                </a:solidFill>
                <a:latin typeface="Plus Jakarta Sans"/>
              </a:rPr>
              <a:t>Technical Challenges &amp; Solutions</a:t>
            </a:r>
            <a:endParaRPr/>
          </a:p>
        </p:txBody>
      </p:sp>
      <p:pic>
        <p:nvPicPr>
          <p:cNvPr id="1967840252" name="Picture 27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454927" y="3859976"/>
            <a:ext cx="5514975" cy="1609724"/>
          </a:xfrm>
          <a:prstGeom prst="rect">
            <a:avLst/>
          </a:prstGeom>
        </p:spPr>
      </p:pic>
      <p:pic>
        <p:nvPicPr>
          <p:cNvPr id="1418627632" name="Graphic 22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>
            <a:off x="3570285" y="3923475"/>
            <a:ext cx="307625" cy="364069"/>
          </a:xfrm>
          <a:prstGeom prst="rect">
            <a:avLst/>
          </a:prstGeom>
        </p:spPr>
      </p:pic>
      <p:sp>
        <p:nvSpPr>
          <p:cNvPr id="690272675" name="TextBox 14"/>
          <p:cNvSpPr txBox="1"/>
          <p:nvPr/>
        </p:nvSpPr>
        <p:spPr bwMode="auto">
          <a:xfrm>
            <a:off x="3774720" y="3982214"/>
            <a:ext cx="2730499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lang="en-US" sz="1500">
                <a:solidFill>
                  <a:srgbClr val="FFFFFF"/>
                </a:solidFill>
                <a:latin typeface="Plus Jakarta Sans SemiBold"/>
              </a:rPr>
              <a:t>Input Validation for Menu Items</a:t>
            </a:r>
            <a:endParaRPr lang="en-US"/>
          </a:p>
        </p:txBody>
      </p:sp>
      <p:sp>
        <p:nvSpPr>
          <p:cNvPr id="1457641021" name="TextBox 15"/>
          <p:cNvSpPr txBox="1"/>
          <p:nvPr/>
        </p:nvSpPr>
        <p:spPr bwMode="auto">
          <a:xfrm>
            <a:off x="3675062" y="4360506"/>
            <a:ext cx="5032374" cy="989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sz="1100">
                <a:solidFill>
                  <a:srgbClr val="FFFFFF"/>
                </a:solidFill>
                <a:latin typeface="Segoe UI"/>
                <a:cs typeface="Segoe UI"/>
              </a:rPr>
              <a:t>Challenge: </a:t>
            </a:r>
            <a:r>
              <a:rPr lang="en-US" sz="1100">
                <a:solidFill>
                  <a:srgbClr val="94A3B8"/>
                </a:solidFill>
                <a:ea typeface="+mn-lt"/>
                <a:cs typeface="+mn-lt"/>
              </a:rPr>
              <a:t>Menu items have strict requirements – ID format, name length/letters, price range, valid categories. Invalid data must not crash the system.</a:t>
            </a:r>
            <a:endParaRPr lang="en-US" sz="1100">
              <a:ea typeface="Calibri"/>
              <a:cs typeface="Calibri"/>
            </a:endParaRPr>
          </a:p>
          <a:p>
            <a:pPr algn="just">
              <a:lnSpc>
                <a:spcPct val="150000"/>
              </a:lnSpc>
              <a:defRPr/>
            </a:pPr>
            <a:r>
              <a:rPr lang="en-US" sz="1100">
                <a:solidFill>
                  <a:schemeClr val="bg1"/>
                </a:solidFill>
                <a:ea typeface="Calibri"/>
                <a:cs typeface="Calibri"/>
              </a:rPr>
              <a:t>Solution: </a:t>
            </a:r>
            <a:r>
              <a:rPr lang="en-US" sz="1100">
                <a:solidFill>
                  <a:srgbClr val="94A3B8"/>
                </a:solidFill>
                <a:ea typeface="Calibri"/>
                <a:cs typeface="Calibri"/>
              </a:rPr>
              <a:t>All setters validate input and use safe defaults to prevent invalid data from crashing the system.</a:t>
            </a:r>
            <a:endParaRPr lang="en-US" sz="110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93149060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18163E2-B399-50AC-717E-CED1D171DCB3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51193712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76721675" name="Picture 2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85775" y="2752725"/>
            <a:ext cx="3524250" cy="2047875"/>
          </a:xfrm>
          <a:prstGeom prst="rect">
            <a:avLst/>
          </a:prstGeom>
        </p:spPr>
      </p:pic>
      <p:pic>
        <p:nvPicPr>
          <p:cNvPr id="96803698" name="Picture 3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85775" y="557212"/>
            <a:ext cx="260300" cy="266700"/>
          </a:xfrm>
          <a:prstGeom prst="rect">
            <a:avLst/>
          </a:prstGeom>
        </p:spPr>
      </p:pic>
      <p:sp>
        <p:nvSpPr>
          <p:cNvPr id="683593394" name="TextBox 4"/>
          <p:cNvSpPr txBox="1"/>
          <p:nvPr/>
        </p:nvSpPr>
        <p:spPr bwMode="auto">
          <a:xfrm>
            <a:off x="876299" y="3143250"/>
            <a:ext cx="2743200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7500"/>
              </a:lnSpc>
              <a:defRPr/>
            </a:pPr>
            <a:r>
              <a:rPr sz="7500" b="0" i="0" u="none">
                <a:solidFill>
                  <a:srgbClr val="38BDF8"/>
                </a:solidFill>
                <a:latin typeface="Plus Jakarta Sans ExtraBold"/>
              </a:rPr>
              <a:t>100%</a:t>
            </a:r>
            <a:endParaRPr/>
          </a:p>
        </p:txBody>
      </p:sp>
      <p:sp>
        <p:nvSpPr>
          <p:cNvPr id="1612392246" name="TextBox 5"/>
          <p:cNvSpPr txBox="1"/>
          <p:nvPr/>
        </p:nvSpPr>
        <p:spPr bwMode="auto">
          <a:xfrm>
            <a:off x="876299" y="4191000"/>
            <a:ext cx="2743200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350" b="0" i="0" u="none">
                <a:solidFill>
                  <a:srgbClr val="CBD5E1"/>
                </a:solidFill>
                <a:latin typeface="Plus Jakarta Sans SemiBold"/>
              </a:rPr>
              <a:t>Leak-Free Memory Safety</a:t>
            </a:r>
            <a:endParaRPr/>
          </a:p>
        </p:txBody>
      </p:sp>
      <p:sp>
        <p:nvSpPr>
          <p:cNvPr id="1365375311" name="TextBox 6"/>
          <p:cNvSpPr txBox="1"/>
          <p:nvPr/>
        </p:nvSpPr>
        <p:spPr bwMode="auto">
          <a:xfrm>
            <a:off x="4314825" y="2862262"/>
            <a:ext cx="7160895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 u="none">
                <a:solidFill>
                  <a:srgbClr val="F1F5F9"/>
                </a:solidFill>
                <a:latin typeface="Plus Jakarta Sans SemiBold"/>
              </a:rPr>
              <a:t>Summary of Accomplishments</a:t>
            </a:r>
            <a:endParaRPr/>
          </a:p>
        </p:txBody>
      </p:sp>
      <p:sp>
        <p:nvSpPr>
          <p:cNvPr id="1056707616" name="TextBox 7"/>
          <p:cNvSpPr txBox="1"/>
          <p:nvPr/>
        </p:nvSpPr>
        <p:spPr bwMode="auto">
          <a:xfrm>
            <a:off x="4543425" y="3376612"/>
            <a:ext cx="65913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Robust Modern C++: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Fully leveraged C++17 OOP, smart pointers, templates, and STL collections.</a:t>
            </a:r>
            <a:endParaRPr/>
          </a:p>
        </p:txBody>
      </p:sp>
      <p:sp>
        <p:nvSpPr>
          <p:cNvPr id="41285495" name="TextBox 8"/>
          <p:cNvSpPr txBox="1"/>
          <p:nvPr/>
        </p:nvSpPr>
        <p:spPr bwMode="auto">
          <a:xfrm>
            <a:off x="4543425" y="3705225"/>
            <a:ext cx="65913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Smooth Desktop GUI: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Built an intuitive Qt 6 interface for waitstaff, cashiers, and managers.</a:t>
            </a:r>
            <a:endParaRPr/>
          </a:p>
        </p:txBody>
      </p:sp>
      <p:sp>
        <p:nvSpPr>
          <p:cNvPr id="1316187093" name="TextBox 9"/>
          <p:cNvSpPr txBox="1"/>
          <p:nvPr/>
        </p:nvSpPr>
        <p:spPr bwMode="auto">
          <a:xfrm>
            <a:off x="4543425" y="4033837"/>
            <a:ext cx="65913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Fault-Tolerant Input: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Guarded against invalid inputs, boundary errors, and invalid payments.</a:t>
            </a:r>
            <a:endParaRPr/>
          </a:p>
        </p:txBody>
      </p:sp>
      <p:sp>
        <p:nvSpPr>
          <p:cNvPr id="971794798" name="TextBox 10"/>
          <p:cNvSpPr txBox="1"/>
          <p:nvPr/>
        </p:nvSpPr>
        <p:spPr bwMode="auto">
          <a:xfrm>
            <a:off x="4543425" y="4362450"/>
            <a:ext cx="65913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E2E8F0"/>
                </a:solidFill>
                <a:latin typeface="Plus Jakarta Sans"/>
              </a:rPr>
              <a:t>Future Scope:</a:t>
            </a:r>
            <a:r>
              <a:rPr sz="1150" b="0" i="0" u="none">
                <a:solidFill>
                  <a:srgbClr val="94A3B8"/>
                </a:solidFill>
                <a:latin typeface="Plus Jakarta Sans"/>
              </a:rPr>
              <a:t> SQLite database integration, multi-terminal network synchronization.</a:t>
            </a:r>
            <a:endParaRPr/>
          </a:p>
        </p:txBody>
      </p:sp>
      <p:sp>
        <p:nvSpPr>
          <p:cNvPr id="217255856" name="TextBox 11"/>
          <p:cNvSpPr txBox="1"/>
          <p:nvPr/>
        </p:nvSpPr>
        <p:spPr bwMode="auto">
          <a:xfrm>
            <a:off x="4314825" y="3376612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1252963316" name="TextBox 12"/>
          <p:cNvSpPr txBox="1"/>
          <p:nvPr/>
        </p:nvSpPr>
        <p:spPr bwMode="auto">
          <a:xfrm>
            <a:off x="4314825" y="3705225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848768397" name="TextBox 13"/>
          <p:cNvSpPr txBox="1"/>
          <p:nvPr/>
        </p:nvSpPr>
        <p:spPr bwMode="auto">
          <a:xfrm>
            <a:off x="4314825" y="4033837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784517382" name="TextBox 14"/>
          <p:cNvSpPr txBox="1"/>
          <p:nvPr/>
        </p:nvSpPr>
        <p:spPr bwMode="auto">
          <a:xfrm>
            <a:off x="4314825" y="4362450"/>
            <a:ext cx="142875" cy="219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  <a:defRPr/>
            </a:pPr>
            <a:r>
              <a:rPr sz="1150" b="1" i="0" u="none">
                <a:solidFill>
                  <a:srgbClr val="38BDF8"/>
                </a:solidFill>
                <a:latin typeface="Plus Jakarta Sans"/>
              </a:rPr>
              <a:t>→</a:t>
            </a:r>
            <a:endParaRPr/>
          </a:p>
        </p:txBody>
      </p:sp>
      <p:sp>
        <p:nvSpPr>
          <p:cNvPr id="519031776" name="TextBox 15"/>
          <p:cNvSpPr txBox="1"/>
          <p:nvPr/>
        </p:nvSpPr>
        <p:spPr bwMode="auto">
          <a:xfrm>
            <a:off x="860375" y="485775"/>
            <a:ext cx="11331624" cy="40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2550" b="1" i="0" u="none">
                <a:solidFill>
                  <a:srgbClr val="38BDF8"/>
                </a:solidFill>
                <a:latin typeface="Plus Jakarta Sans"/>
              </a:rPr>
              <a:t>Project Conclusion &amp; Key Achievements</a:t>
            </a:r>
            <a:endParaRPr/>
          </a:p>
        </p:txBody>
      </p:sp>
      <p:sp>
        <p:nvSpPr>
          <p:cNvPr id="100553513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F36DF71-7588-4CE9-C05A-B510B5C05A7D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F172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1922992" name="Picture 1" descr="im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08533399" name="Picture 2" descr="image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2409825" y="3767137"/>
            <a:ext cx="7372350" cy="457200"/>
          </a:xfrm>
          <a:prstGeom prst="rect">
            <a:avLst/>
          </a:prstGeom>
        </p:spPr>
      </p:pic>
      <p:pic>
        <p:nvPicPr>
          <p:cNvPr id="432700201" name="Picture 3" descr="imag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85775" y="2171700"/>
            <a:ext cx="3613100" cy="1281112"/>
          </a:xfrm>
          <a:prstGeom prst="rect">
            <a:avLst/>
          </a:prstGeom>
        </p:spPr>
      </p:pic>
      <p:pic>
        <p:nvPicPr>
          <p:cNvPr id="1281179128" name="Picture 4" descr="image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289375" y="2171700"/>
            <a:ext cx="3613100" cy="1281112"/>
          </a:xfrm>
          <a:prstGeom prst="rect">
            <a:avLst/>
          </a:prstGeom>
        </p:spPr>
      </p:pic>
      <p:pic>
        <p:nvPicPr>
          <p:cNvPr id="1285754197" name="Picture 5" descr="image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092975" y="2171700"/>
            <a:ext cx="3613100" cy="1281112"/>
          </a:xfrm>
          <a:prstGeom prst="rect">
            <a:avLst/>
          </a:prstGeom>
        </p:spPr>
      </p:pic>
      <p:sp>
        <p:nvSpPr>
          <p:cNvPr id="2128508042" name="TextBox 6"/>
          <p:cNvSpPr txBox="1"/>
          <p:nvPr/>
        </p:nvSpPr>
        <p:spPr bwMode="auto">
          <a:xfrm>
            <a:off x="3240018" y="485775"/>
            <a:ext cx="5711963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3900" b="1" i="0" u="none">
                <a:solidFill>
                  <a:srgbClr val="38BDF8"/>
                </a:solidFill>
                <a:latin typeface="Plus Jakarta Sans"/>
              </a:rPr>
              <a:t>Questions &amp; Discussion</a:t>
            </a:r>
            <a:endParaRPr/>
          </a:p>
        </p:txBody>
      </p:sp>
      <p:sp>
        <p:nvSpPr>
          <p:cNvPr id="2047148857" name="TextBox 7"/>
          <p:cNvSpPr txBox="1"/>
          <p:nvPr/>
        </p:nvSpPr>
        <p:spPr bwMode="auto">
          <a:xfrm>
            <a:off x="2190750" y="1285875"/>
            <a:ext cx="78105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  <a:defRPr/>
            </a:pPr>
            <a:r>
              <a:rPr sz="1500" b="0" i="0" u="none">
                <a:solidFill>
                  <a:srgbClr val="CBD5E1"/>
                </a:solidFill>
                <a:latin typeface="Plus Jakarta Sans"/>
              </a:rPr>
              <a:t>Thank you for your time and attention! We welcome any questions regarding BiteKing POS, software class design, C++ implementation, or Qt GUI design.</a:t>
            </a:r>
            <a:endParaRPr/>
          </a:p>
        </p:txBody>
      </p:sp>
      <p:sp>
        <p:nvSpPr>
          <p:cNvPr id="1260238916" name="TextBox 8"/>
          <p:cNvSpPr txBox="1"/>
          <p:nvPr/>
        </p:nvSpPr>
        <p:spPr bwMode="auto">
          <a:xfrm>
            <a:off x="892373" y="2371725"/>
            <a:ext cx="315680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38BDF8"/>
                </a:solidFill>
                <a:latin typeface="Plus Jakarta Sans"/>
              </a:rPr>
              <a:t>C++ Architecture Topics</a:t>
            </a:r>
            <a:endParaRPr/>
          </a:p>
        </p:txBody>
      </p:sp>
      <p:sp>
        <p:nvSpPr>
          <p:cNvPr id="1464411238" name="TextBox 9"/>
          <p:cNvSpPr txBox="1"/>
          <p:nvPr/>
        </p:nvSpPr>
        <p:spPr bwMode="auto">
          <a:xfrm>
            <a:off x="685800" y="2647949"/>
            <a:ext cx="3213050" cy="604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050" b="0" i="0" u="none">
                <a:solidFill>
                  <a:srgbClr val="94A3B8"/>
                </a:solidFill>
                <a:latin typeface="Plus Jakarta Sans"/>
              </a:rPr>
              <a:t>Smart Pointers (unique_ptr vs shared_ptr), Abstract Base Classes, and Template SFINAE Engine.</a:t>
            </a:r>
            <a:endParaRPr/>
          </a:p>
        </p:txBody>
      </p:sp>
      <p:sp>
        <p:nvSpPr>
          <p:cNvPr id="256411597" name="TextBox 10"/>
          <p:cNvSpPr txBox="1"/>
          <p:nvPr/>
        </p:nvSpPr>
        <p:spPr bwMode="auto">
          <a:xfrm>
            <a:off x="4715023" y="2371725"/>
            <a:ext cx="3136798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38BDF8"/>
                </a:solidFill>
                <a:latin typeface="Plus Jakarta Sans"/>
              </a:rPr>
              <a:t>Qt GUI &amp; Styling</a:t>
            </a:r>
            <a:endParaRPr/>
          </a:p>
        </p:txBody>
      </p:sp>
      <p:sp>
        <p:nvSpPr>
          <p:cNvPr id="2077232552" name="TextBox 11"/>
          <p:cNvSpPr txBox="1"/>
          <p:nvPr/>
        </p:nvSpPr>
        <p:spPr bwMode="auto">
          <a:xfrm>
            <a:off x="4489400" y="2647949"/>
            <a:ext cx="32130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050" b="0" i="0" u="none">
                <a:solidFill>
                  <a:srgbClr val="94A3B8"/>
                </a:solidFill>
                <a:latin typeface="Plus Jakarta Sans"/>
              </a:rPr>
              <a:t>Signals &amp; Slots, QSS Theme Switcher, Custom Event Handling, and Table View State Updates.</a:t>
            </a:r>
            <a:endParaRPr/>
          </a:p>
        </p:txBody>
      </p:sp>
      <p:sp>
        <p:nvSpPr>
          <p:cNvPr id="1606766845" name="TextBox 12"/>
          <p:cNvSpPr txBox="1"/>
          <p:nvPr/>
        </p:nvSpPr>
        <p:spPr bwMode="auto">
          <a:xfrm>
            <a:off x="8556724" y="2371725"/>
            <a:ext cx="3096793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200" b="1" i="0" u="none">
                <a:solidFill>
                  <a:srgbClr val="38BDF8"/>
                </a:solidFill>
                <a:latin typeface="Plus Jakarta Sans"/>
              </a:rPr>
              <a:t>Technical Q&amp;A Spot</a:t>
            </a:r>
            <a:endParaRPr/>
          </a:p>
        </p:txBody>
      </p:sp>
      <p:sp>
        <p:nvSpPr>
          <p:cNvPr id="548227061" name="TextBox 13"/>
          <p:cNvSpPr txBox="1"/>
          <p:nvPr/>
        </p:nvSpPr>
        <p:spPr bwMode="auto">
          <a:xfrm>
            <a:off x="8293000" y="2647949"/>
            <a:ext cx="32130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  <a:defRPr/>
            </a:pPr>
            <a:r>
              <a:rPr sz="1050" b="0" i="0" u="none">
                <a:solidFill>
                  <a:srgbClr val="94A3B8"/>
                </a:solidFill>
                <a:latin typeface="Plus Jakarta Sans"/>
              </a:rPr>
              <a:t>[ Blank spot reserved for specific instructor or audience discussion questions ]</a:t>
            </a:r>
            <a:endParaRPr/>
          </a:p>
        </p:txBody>
      </p:sp>
      <p:pic>
        <p:nvPicPr>
          <p:cNvPr id="702898985" name="Picture 14" descr="image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85800" y="2395537"/>
            <a:ext cx="130373" cy="152400"/>
          </a:xfrm>
          <a:prstGeom prst="rect">
            <a:avLst/>
          </a:prstGeom>
        </p:spPr>
      </p:pic>
      <p:pic>
        <p:nvPicPr>
          <p:cNvPr id="2091831127" name="Picture 15" descr="image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4489400" y="2395537"/>
            <a:ext cx="149423" cy="152400"/>
          </a:xfrm>
          <a:prstGeom prst="rect">
            <a:avLst/>
          </a:prstGeom>
        </p:spPr>
      </p:pic>
      <p:pic>
        <p:nvPicPr>
          <p:cNvPr id="885799208" name="Picture 16" descr="image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8293000" y="2395537"/>
            <a:ext cx="187523" cy="152400"/>
          </a:xfrm>
          <a:prstGeom prst="rect">
            <a:avLst/>
          </a:prstGeom>
        </p:spPr>
      </p:pic>
      <p:sp>
        <p:nvSpPr>
          <p:cNvPr id="197018832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2DEE464-256D-880B-73D3-E2D03B33C9B1}" type="slidenum">
              <a:rPr lang="en-US"/>
              <a:t>1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/>
  <cp:revision>28</cp:revision>
  <dcterms:created xsi:type="dcterms:W3CDTF">2013-01-27T09:14:16Z</dcterms:created>
  <dcterms:modified xsi:type="dcterms:W3CDTF">2026-08-12T19:23:19Z</dcterms:modified>
  <cp:category/>
</cp:coreProperties>
</file>