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3715DB-6EA9-BDCE-A56D-751485430C2F}" v="395" dt="2026-08-12T00:16:12.831"/>
    <p1510:client id="{760D079E-10FF-A9C5-CC20-144DBF39E716}" v="8" dt="2026-08-12T00:32:11.462"/>
    <p1510:client id="{8D2663B2-CBDD-EA12-211E-1FE58682F151}" v="19" dt="2026-08-12T16:28:22.274"/>
    <p1510:client id="{A3432FA7-5A03-82C5-AFAA-622ED65F2A5F}" v="26" dt="2026-08-11T21:28:22.331"/>
    <p1510:client id="{BF43132F-4595-87C6-3E7E-E32CBE7121C2}" v="19" dt="2026-08-12T16:41:41.596"/>
    <p1510:client id="{F946A2C9-7215-6E48-9C8A-52C3154C076D}" v="4" dt="2026-08-12T16:32:35.4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sv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4300537"/>
            <a:ext cx="6858000" cy="5238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729" y="2033587"/>
            <a:ext cx="3182391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19387" y="2528887"/>
            <a:ext cx="8353075" cy="6412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950"/>
              </a:lnSpc>
            </a:pPr>
            <a:r>
              <a:rPr sz="4400" b="1" i="0" u="none">
                <a:solidFill>
                  <a:srgbClr val="F8FAFC"/>
                </a:solidFill>
                <a:latin typeface="Plus Jakarta Sans"/>
              </a:rPr>
              <a:t>BiteKing POS &amp; Billing System</a:t>
            </a:r>
            <a:endParaRPr lang="en-US" sz="4400" b="1" i="0" u="none">
              <a:solidFill>
                <a:srgbClr val="F8FAFC"/>
              </a:solidFill>
              <a:latin typeface="Plus Jakarta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286000" y="3348037"/>
            <a:ext cx="7620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CBD5E1"/>
                </a:solidFill>
                <a:latin typeface="Plus Jakarta Sans"/>
              </a:rPr>
              <a:t>A Modern, Cross-Platform Restaurant Point-of-Sale Solution Built with C++17 and Qt 6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500562"/>
            <a:ext cx="31051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64748B"/>
                </a:solidFill>
                <a:latin typeface="Plus Jakarta Sans"/>
              </a:rPr>
              <a:t>TEAM MEMBERS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4643437"/>
            <a:ext cx="31051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E2E8F0"/>
                </a:solidFill>
                <a:latin typeface="Plus Jakarta Sans SemiBold"/>
              </a:rPr>
              <a:t>Arshdeep Sahota | Alhan Mahfouz | Syed Razi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7900" y="4500562"/>
            <a:ext cx="17335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64748B"/>
                </a:solidFill>
                <a:latin typeface="Plus Jakarta Sans"/>
              </a:rPr>
              <a:t>SECTION &amp; INSTRUCTOR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4643437"/>
            <a:ext cx="173355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u="none">
                <a:solidFill>
                  <a:srgbClr val="E2E8F0"/>
                </a:solidFill>
                <a:latin typeface="Plus Jakarta Sans SemiBold"/>
              </a:rPr>
              <a:t>Section 301 | Prof. </a:t>
            </a:r>
            <a:r>
              <a:rPr lang="en-US" sz="1100">
                <a:solidFill>
                  <a:srgbClr val="E2E8F0"/>
                </a:solidFill>
                <a:latin typeface="Plus Jakarta Sans SemiBold"/>
              </a:rPr>
              <a:t>Sanaa</a:t>
            </a:r>
            <a:endParaRPr sz="1125" b="0" i="0" u="none">
              <a:solidFill>
                <a:srgbClr val="E2E8F0"/>
              </a:solidFill>
              <a:latin typeface="Plus Jakarta Sans Semi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77200" y="4500562"/>
            <a:ext cx="14478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64748B"/>
                </a:solidFill>
                <a:latin typeface="Plus Jakarta Sans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4643437"/>
            <a:ext cx="14478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E2E8F0"/>
                </a:solidFill>
                <a:latin typeface="Plus Jakarta Sans SemiBold"/>
              </a:rPr>
              <a:t>C++17 / Qt6 / CMake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707481"/>
            <a:ext cx="5457825" cy="21383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707481"/>
            <a:ext cx="5457825" cy="21383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557212"/>
            <a:ext cx="260300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4029" y="2983706"/>
            <a:ext cx="4854512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Operational Bottlenecks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298031"/>
            <a:ext cx="4905375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Traditional restaurant workflows suffer from manual order logging, billing delays, and error-prone tax/discount calculations during rush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140993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Waitstaff need instant seat state updates, cashiers require validated change processing, and managers lack real-time financial metrics.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9029" y="2983706"/>
            <a:ext cx="4904519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The BiteKing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4625" y="329803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BiteKing bridges digital restaurant management with smooth front-of-house desktop operations using a high-performance C++ backend.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5" y="392668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Delivers real-time table state tracking, automated HST (13%) tax calculations, polymorphic menu discounting, and file persistence.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3007518"/>
            <a:ext cx="186779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4625" y="3007518"/>
            <a:ext cx="139154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Problem &amp; Motivation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" y="557212"/>
            <a:ext cx="298400" cy="266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5775" y="2162175"/>
            <a:ext cx="5730716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5 Modular Operating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375" y="2676525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Menu Explorer: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Live dish filtering, dynamic item additions, and price/type updates.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4375" y="3219450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Order Manager: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Assigns orders to active tables with bounded spinner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375" y="3762375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Billing System: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Previews subtotal, 13% tax rate, happy-hour discounts, and net total.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375" y="4305300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Payment Processing: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Validates Cash/Card methods with automated change calculations.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4375" y="4848225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Real-Time Analytics: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Evaluates daily sales totals and top-selling menu items.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75" y="2676525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775" y="3219450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75" y="3762375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775" y="4305300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75" y="4848225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476" y="485774"/>
            <a:ext cx="112935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System Architecture &amp; Overview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72E8BB-6F52-F600-D411-F526EB88A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060521"/>
            <a:ext cx="6096001" cy="31921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9525"/>
            <a:ext cx="5895975" cy="6838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8475" y="2281237"/>
            <a:ext cx="5257375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Software Class Design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352675"/>
            <a:ext cx="298400" cy="26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2976562"/>
            <a:ext cx="5690711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Object Class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75" y="3290887"/>
            <a:ext cx="54197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Base Hierarchy: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MenuItem abstract class derived into specialized FoodItem and BeverageItem entities.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75" y="3719512"/>
            <a:ext cx="54197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Table Ownership: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DiningTable manages CustomerOrder via std::unique_ptr for single ownership memory safety.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775" y="4148137"/>
            <a:ext cx="54197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Shared Memory: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RestaurantManager manages catalog items through std::shared_ptr.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EA56FC-7B22-8970-2FF6-CF57D7FEDF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8936" y="672934"/>
            <a:ext cx="5898154" cy="56605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57475"/>
            <a:ext cx="3587799" cy="22383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174" y="2657475"/>
            <a:ext cx="3587799" cy="2238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8574" y="2657475"/>
            <a:ext cx="3587799" cy="22383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557212"/>
            <a:ext cx="32697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28956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3900" y="3486150"/>
            <a:ext cx="32671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Inheritance &amp; Abstraction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3800475"/>
            <a:ext cx="31115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MenuItem defines abstract pure virtual displayItem() = 0. Extended by FoodItem (cuisine, prep time) and BeverageItem (volume, fizzy status).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0299" y="2895600"/>
            <a:ext cx="438150" cy="4381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0299" y="3486150"/>
            <a:ext cx="32671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Runtime Polymorphism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0299" y="3800475"/>
            <a:ext cx="31115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Virtual methods calculateFinalPrice() and calculateDiscountedPrice() are invoked polymorphically across heterogeneous menu lists at runtime.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6699" y="2895600"/>
            <a:ext cx="438150" cy="4381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56699" y="3486150"/>
            <a:ext cx="32671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Encapsulation &amp; Protection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6699" y="3800475"/>
            <a:ext cx="31115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All core attributes remain private or protected. Setter methods enforce numeric guardrails preventing negative prices or empty string IDs.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3912" y="3009900"/>
            <a:ext cx="238125" cy="2095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0312" y="3009900"/>
            <a:ext cx="238125" cy="2095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2424" y="3009900"/>
            <a:ext cx="266700" cy="2095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7050" y="485775"/>
            <a:ext cx="11264949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Core C++ OOP Principles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707481"/>
            <a:ext cx="5457825" cy="21383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707481"/>
            <a:ext cx="5457825" cy="21383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557212"/>
            <a:ext cx="326975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7250" y="2983706"/>
            <a:ext cx="5050631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Templates &amp; Overloading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29803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Generic Analytics: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AnalyticsEngine operates polymorphically over Bill and Payment histories using SFINAE compile-time dispatch.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92668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Operator Overloading: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Overloaded comparison operator== for item IDs and friend stream output operator&lt;&lt; for standard output logging.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229" y="2983706"/>
            <a:ext cx="4824509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STL &amp; Smart Pointers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4625" y="329803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STL Containers: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std::vector for cache-friendly order line storage and std::map for fast table queries.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5" y="3926681"/>
            <a:ext cx="4905375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Smart Pointer Memory: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std::shared_ptr for shared menu catalog instances and std::unique_ptr for exclusive table lifecycle management.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007518"/>
            <a:ext cx="215354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7050" y="485775"/>
            <a:ext cx="11264949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Advanced C++ Features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557212"/>
            <a:ext cx="298400" cy="2667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48400" y="2324100"/>
            <a:ext cx="5457825" cy="752475"/>
          </a:xfrm>
          <a:prstGeom prst="roundRect">
            <a:avLst>
              <a:gd name="adj" fmla="val 126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2750" y="2476500"/>
            <a:ext cx="4752975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Responsive Layout Packing: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Nested QHBoxLayout, QVBoxLayout, and QGridLayout wrappers prevent UI stretching.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3343275"/>
            <a:ext cx="5457825" cy="752475"/>
          </a:xfrm>
          <a:prstGeom prst="roundRect">
            <a:avLst>
              <a:gd name="adj" fmla="val 126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2750" y="3495675"/>
            <a:ext cx="4752975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Signal &amp; Slot Communication: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Event-driven architecture binds table seat button clicks directly to order updates.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400" y="4362450"/>
            <a:ext cx="5457825" cy="752475"/>
          </a:xfrm>
          <a:prstGeom prst="roundRect">
            <a:avLst>
              <a:gd name="adj" fmla="val 126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2750" y="4514850"/>
            <a:ext cx="4752975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Dynamic QSS Theme Switcher: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Dark and Light modes with custom input field overrides.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400" y="2476500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8400" y="3067050"/>
            <a:ext cx="54578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8400" y="3495675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400" y="4086225"/>
            <a:ext cx="54578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48400" y="4514850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8400" y="5105400"/>
            <a:ext cx="54578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25" y="2500312"/>
            <a:ext cx="190500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425" y="3519487"/>
            <a:ext cx="171450" cy="2000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425" y="4538662"/>
            <a:ext cx="190500" cy="20002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8475" y="485775"/>
            <a:ext cx="112935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GUI Demonstration &amp; Qt6 Architecture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FE95AC2-DE45-1F8A-7F48-E90964D61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752" y="2225178"/>
            <a:ext cx="5868390" cy="29915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14612"/>
            <a:ext cx="5457825" cy="2324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614612"/>
            <a:ext cx="5457825" cy="2324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557212"/>
            <a:ext cx="231725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96404" y="2890837"/>
            <a:ext cx="4904519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Polymorphic Serialization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205162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Menu catalog stored in structured pipe-delimited local file format menu.txt.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833812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Starts each record line with concrete type tags (FOOD or BEV) enabling seamless factory reconstruction on startup: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06654" y="2890837"/>
            <a:ext cx="4854512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Transaction 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4625" y="3205162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The DataManager persistent logging subsystem reads and writes transaction streams.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5" y="3833812"/>
            <a:ext cx="4905375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4A3B8"/>
                </a:solidFill>
                <a:latin typeface="Plus Jakarta Sans"/>
              </a:rPr>
              <a:t>Saves completed bills, customer orders, and payment histories to track financial metrics and historical sales continuity across application restarts.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914650"/>
            <a:ext cx="139154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2914650"/>
            <a:ext cx="186779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1800" y="485775"/>
            <a:ext cx="11360199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Data Persistence &amp; File I/O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557212"/>
            <a:ext cx="260300" cy="2667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85775" y="2333625"/>
          <a:ext cx="11201398" cy="2886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1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8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31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1012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Test Case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Target Input / Action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Expected Behavior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012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Menu Addition Validation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Short Name "A", Price: $0.00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Rejected with validation popup message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1012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Duplicate ID Check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Add existing ID "ITEM-0001"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Addition blocked; duplicate warning shown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2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Boundary Limits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Order Quantity: -1 or 101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Input bounded strictly by QSpinBox [1..100]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1012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Insufficient Cash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Cash Tendered $10 for $15 Bill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Payment blocked with "Insufficient Cash" warning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101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Card Payment Lock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Select "Card" mode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Cash field disabled; payment auto-locked to total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5300" y="2824162"/>
            <a:ext cx="262815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123455" y="2824162"/>
            <a:ext cx="292849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51946" y="2824162"/>
            <a:ext cx="454312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595074" y="2824162"/>
            <a:ext cx="11016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95300" y="3300412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3455" y="3300412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51946" y="3300412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595074" y="3300412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95300" y="3776662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3455" y="3776662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51946" y="3776662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595074" y="3776662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95300" y="4257675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23455" y="4257675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51946" y="4257675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595074" y="4257675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5300" y="4733925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23455" y="4733925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51946" y="4733925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595074" y="4733925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Testing Matrix &amp; Edge Cases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019300"/>
            <a:ext cx="5514975" cy="16097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2019300"/>
            <a:ext cx="5514975" cy="16097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250" y="3819525"/>
            <a:ext cx="5514975" cy="1714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557212"/>
            <a:ext cx="2603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850" y="2238375"/>
            <a:ext cx="5330666" cy="238125"/>
          </a:xfrm>
          <a:prstGeom prst="rect">
            <a:avLst/>
          </a:prstGeom>
          <a:noFill/>
        </p:spPr>
        <p:txBody>
          <a:bodyPr wrap="square" lIns="215354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Linux GTK Theme Collision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850" y="2552700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687"/>
              </a:lnSpc>
            </a:pPr>
            <a:r>
              <a:rPr sz="1100" b="1" i="0" u="none">
                <a:solidFill>
                  <a:srgbClr val="E2E8F0"/>
                </a:solidFill>
                <a:latin typeface="Plus Jakarta Sans"/>
              </a:rPr>
              <a:t>Challenge: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 </a:t>
            </a:r>
            <a:r>
              <a:rPr sz="1100" b="0" i="0" u="none" err="1">
                <a:solidFill>
                  <a:srgbClr val="94A3B8"/>
                </a:solidFill>
                <a:latin typeface="Plus Jakarta Sans"/>
              </a:rPr>
              <a:t>Unstyled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 </a:t>
            </a:r>
            <a:r>
              <a:rPr sz="1100" b="0" i="0" u="none" err="1">
                <a:solidFill>
                  <a:srgbClr val="94A3B8"/>
                </a:solidFill>
                <a:latin typeface="Plus Jakarta Sans"/>
              </a:rPr>
              <a:t>QLineEdit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 search boxes inherited dark system text on dark backgrounds when switching themes.</a:t>
            </a:r>
            <a:r>
              <a:rPr lang="en-US" sz="1100">
                <a:solidFill>
                  <a:srgbClr val="94A3B8"/>
                </a:solidFill>
                <a:latin typeface="Plus Jakarta Sans"/>
              </a:rPr>
              <a:t> </a:t>
            </a:r>
            <a:endParaRPr lang="en-US" sz="1100" b="0" i="0" u="none">
              <a:solidFill>
                <a:srgbClr val="94A3B8"/>
              </a:solidFill>
              <a:latin typeface="Plus Jakarta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850" y="2981325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Solution: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Explicitly styled QLineEdit and QTableCornerButton elements inside stylesheet rules.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0325" y="2238375"/>
            <a:ext cx="5330666" cy="238125"/>
          </a:xfrm>
          <a:prstGeom prst="rect">
            <a:avLst/>
          </a:prstGeom>
          <a:noFill/>
        </p:spPr>
        <p:txBody>
          <a:bodyPr wrap="square" lIns="120104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QComboBox Arrow Disappearance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0325" y="2552700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Challenge: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Applying custom border styles disabled native dropdown arrow rendering in combo boxes.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0325" y="2981325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Solution: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Implemented pure CSS/QSS downward arrows using border tricks in custom stylesheet rules.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5387" y="4281487"/>
            <a:ext cx="266700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91487" y="4681537"/>
            <a:ext cx="17145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94A3B8"/>
                </a:solidFill>
                <a:latin typeface="Plus Jakarta Sans SemiBold"/>
              </a:rPr>
              <a:t>Technical Challenge #4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6386" y="4877329"/>
            <a:ext cx="35909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[ Blank Spot for additional team challenge / file I/O edge case ]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" y="2276475"/>
            <a:ext cx="215354" cy="1905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0325" y="2276475"/>
            <a:ext cx="120104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Technical Challenges &amp; Solutions</a:t>
            </a:r>
          </a:p>
        </p:txBody>
      </p:sp>
      <p:pic>
        <p:nvPicPr>
          <p:cNvPr id="28" name="Picture 27" descr="image.png">
            <a:extLst>
              <a:ext uri="{FF2B5EF4-FFF2-40B4-BE49-F238E27FC236}">
                <a16:creationId xmlns:a16="http://schemas.microsoft.com/office/drawing/2014/main" id="{F7283ABA-8901-60B2-D4F0-14910D885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3867856"/>
            <a:ext cx="5514975" cy="16097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45F7B3BB-746D-EFF4-B206-DC8BFFA0C5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1133" y="3931355"/>
            <a:ext cx="307625" cy="36406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5568" y="3990094"/>
            <a:ext cx="2730499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500">
                <a:solidFill>
                  <a:srgbClr val="FFFFFF"/>
                </a:solidFill>
                <a:latin typeface="Plus Jakarta Sans SemiBold"/>
              </a:rPr>
              <a:t>Input Validation for Menu Items</a:t>
            </a:r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705910" y="4368386"/>
            <a:ext cx="5032374" cy="989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100">
                <a:solidFill>
                  <a:srgbClr val="FFFFFF"/>
                </a:solidFill>
                <a:latin typeface="Segoe UI"/>
                <a:cs typeface="Segoe UI"/>
              </a:rPr>
              <a:t>Challenge: </a:t>
            </a:r>
            <a:r>
              <a:rPr lang="en-US" sz="1100">
                <a:solidFill>
                  <a:srgbClr val="94A3B8"/>
                </a:solidFill>
                <a:ea typeface="+mn-lt"/>
                <a:cs typeface="+mn-lt"/>
              </a:rPr>
              <a:t>Menu items have strict requirements – ID format, name length/letters, price range, valid categories. Invalid data must not crash the system.</a:t>
            </a:r>
            <a:endParaRPr lang="en-US" sz="1100">
              <a:ea typeface="Calibri"/>
              <a:cs typeface="Calibri"/>
            </a:endParaRPr>
          </a:p>
          <a:p>
            <a:pPr algn="just">
              <a:lnSpc>
                <a:spcPct val="150000"/>
              </a:lnSpc>
            </a:pPr>
            <a:r>
              <a:rPr lang="en-US" sz="1100">
                <a:solidFill>
                  <a:schemeClr val="bg1"/>
                </a:solidFill>
                <a:ea typeface="Calibri"/>
                <a:cs typeface="Calibri"/>
              </a:rPr>
              <a:t>Solution: </a:t>
            </a:r>
            <a:r>
              <a:rPr lang="en-US" sz="1100">
                <a:solidFill>
                  <a:srgbClr val="94A3B8"/>
                </a:solidFill>
                <a:ea typeface="Calibri"/>
                <a:cs typeface="Calibri"/>
              </a:rPr>
              <a:t>All setters validate input and use safe defaults to prevent invalid data from crashing the system.</a:t>
            </a:r>
            <a:endParaRPr lang="en-US" sz="1100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752725"/>
            <a:ext cx="3524250" cy="20478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557212"/>
            <a:ext cx="260300" cy="266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6300" y="3143250"/>
            <a:ext cx="27432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sz="7500" b="0" i="0" u="none">
                <a:solidFill>
                  <a:srgbClr val="38BDF8"/>
                </a:solidFill>
                <a:latin typeface="Plus Jakarta Sans ExtraBold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4191000"/>
            <a:ext cx="2743200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CBD5E1"/>
                </a:solidFill>
                <a:latin typeface="Plus Jakarta Sans SemiBold"/>
              </a:rPr>
              <a:t>Leak-Free Memory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4825" y="2862262"/>
            <a:ext cx="7160895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Summary of Accomplishments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3425" y="3376612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Robust Modern C++: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Fully leveraged C++17 OOP, smart pointers, templates, and STL collections.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3425" y="3705225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Smooth Desktop GUI: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Built an intuitive Qt 6 interface for waitstaff, cashiers, and managers.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3425" y="4033837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Fault-Tolerant Input: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Guarded against invalid inputs, boundary errors, and invalid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3425" y="4362450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E2E8F0"/>
                </a:solidFill>
                <a:latin typeface="Plus Jakarta Sans"/>
              </a:rPr>
              <a:t>Future Scope:</a:t>
            </a:r>
            <a:r>
              <a:rPr sz="1125" b="0" i="0" u="none">
                <a:solidFill>
                  <a:srgbClr val="94A3B8"/>
                </a:solidFill>
                <a:latin typeface="Plus Jakarta Sans"/>
              </a:rPr>
              <a:t> SQLite database integration, multi-terminal network synchronization.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4825" y="3376612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4825" y="3705225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4825" y="4033837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4825" y="4362450"/>
            <a:ext cx="14287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8BDF8"/>
                </a:solidFill>
                <a:latin typeface="Plus Jakarta Sans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Plus Jakarta Sans"/>
              </a:rPr>
              <a:t>Project Conclusion &amp; Key Achievements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825" y="3767137"/>
            <a:ext cx="7372350" cy="457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171700"/>
            <a:ext cx="3613100" cy="12811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9375" y="2171700"/>
            <a:ext cx="3613100" cy="1281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975" y="2171700"/>
            <a:ext cx="3613100" cy="12811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40018" y="485775"/>
            <a:ext cx="5711963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900" b="1" i="0" u="none">
                <a:solidFill>
                  <a:srgbClr val="38BDF8"/>
                </a:solidFill>
                <a:latin typeface="Plus Jakarta Sans"/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0750" y="1285875"/>
            <a:ext cx="7810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CBD5E1"/>
                </a:solidFill>
                <a:latin typeface="Plus Jakarta Sans"/>
              </a:rPr>
              <a:t>Thank you for your time and attention! We welcome any questions regarding BiteKing POS, software class design, C++ implementation, or Qt GUI design.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373" y="2371725"/>
            <a:ext cx="31568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C++ Architecture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47950"/>
            <a:ext cx="3213050" cy="604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94A3B8"/>
                </a:solidFill>
                <a:latin typeface="Plus Jakarta Sans"/>
              </a:rPr>
              <a:t>Smart Pointers (unique_ptr vs shared_ptr), Abstract Base Classes, and Template SFINAE Engine.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5023" y="2371725"/>
            <a:ext cx="3136798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Qt GUI &amp; Styling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400" y="2647950"/>
            <a:ext cx="3213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94A3B8"/>
                </a:solidFill>
                <a:latin typeface="Plus Jakarta Sans"/>
              </a:rPr>
              <a:t>Signals &amp; Slots, QSS Theme Switcher, Custom Event Handling, and Table View State Updates.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6724" y="2371725"/>
            <a:ext cx="3096793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Technical Q&amp;A 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000" y="2647950"/>
            <a:ext cx="3213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94A3B8"/>
                </a:solidFill>
                <a:latin typeface="Plus Jakarta Sans"/>
              </a:rPr>
              <a:t>[ Blank spot reserved for specific instructor or audience discussion questions ]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395537"/>
            <a:ext cx="130373" cy="1524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9400" y="2395537"/>
            <a:ext cx="149423" cy="1524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3000" y="2395537"/>
            <a:ext cx="187523" cy="152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revision>26</cp:revision>
  <dcterms:created xsi:type="dcterms:W3CDTF">2013-01-27T09:14:16Z</dcterms:created>
  <dcterms:modified xsi:type="dcterms:W3CDTF">2026-08-12T16:43:12Z</dcterms:modified>
  <cp:category/>
</cp:coreProperties>
</file>