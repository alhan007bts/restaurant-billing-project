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DDAD6A-6EB8-F4C5-5984-8E8B4A597F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FD65B-EA0E-01B6-2540-689C50F8C1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0FA216-2529-2EC3-E4EF-50D57F9836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6C5189-6DB3-461C-3709-A49B2CED62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A6793A-9769-092B-6CCE-2E2ECA8148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7C3424-8A95-96C2-14A7-10D580F43D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F8014C-2334-DDFF-0624-D8DC8CE678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3137AD-0BB6-2123-32B1-C380533489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079E5D-F833-F401-8343-4759870350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6D456F-8D68-0BA8-1BC2-21C5F445C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868C8-F330-440E-7635-F8CFDE6BC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501AB8-9AB5-CF41-3A8D-D528A50F49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3743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74675853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1141254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962982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01092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8655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653668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6779026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10443925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2927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93991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233256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442840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8896269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57244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2011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5421443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8600672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68098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6072995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13086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15628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135286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04347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0968906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037342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889631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16939893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320274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7209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2592018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197206456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431899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95220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1490439702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495058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008238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28730379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62531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7877015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150277406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19602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43905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5516290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30957306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7259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205227686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33458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0424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5237307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323929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19762394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56887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19314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4494013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009409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13964443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368887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36821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761290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80306657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8/12/2026</a:t>
            </a:fld>
            <a:endParaRPr lang="en-US"/>
          </a:p>
        </p:txBody>
      </p:sp>
      <p:sp>
        <p:nvSpPr>
          <p:cNvPr id="392236667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8634348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media1.sv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0352258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87631809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667000" y="4300537"/>
            <a:ext cx="6858000" cy="523875"/>
          </a:xfrm>
          <a:prstGeom prst="rect">
            <a:avLst/>
          </a:prstGeom>
        </p:spPr>
      </p:pic>
      <p:pic>
        <p:nvPicPr>
          <p:cNvPr id="1628120548" name="Picture 3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504729" y="2033587"/>
            <a:ext cx="3182391" cy="304800"/>
          </a:xfrm>
          <a:prstGeom prst="rect">
            <a:avLst/>
          </a:prstGeom>
        </p:spPr>
      </p:pic>
      <p:sp>
        <p:nvSpPr>
          <p:cNvPr id="561035479" name="TextBox 4"/>
          <p:cNvSpPr txBox="1"/>
          <p:nvPr/>
        </p:nvSpPr>
        <p:spPr bwMode="auto">
          <a:xfrm>
            <a:off x="1919387" y="2528887"/>
            <a:ext cx="8353075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950"/>
              </a:lnSpc>
              <a:defRPr/>
            </a:pPr>
            <a:r>
              <a:rPr sz="4400" b="1" i="0" u="none">
                <a:solidFill>
                  <a:srgbClr val="F8FAFC"/>
                </a:solidFill>
                <a:latin typeface="Plus Jakarta Sans"/>
              </a:rPr>
              <a:t>BiteKing POS &amp; Billing System</a:t>
            </a:r>
            <a:endParaRPr lang="en-US" sz="4400" b="1" i="0" u="none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622568975" name="TextBox 5"/>
          <p:cNvSpPr txBox="1"/>
          <p:nvPr/>
        </p:nvSpPr>
        <p:spPr bwMode="auto">
          <a:xfrm>
            <a:off x="2286000" y="3348037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  <a:defRPr/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A Modern, Cross-Platform Restaurant Point-of-Sale Solution Built with C++17 and Qt 6 Framework</a:t>
            </a:r>
            <a:endParaRPr/>
          </a:p>
        </p:txBody>
      </p:sp>
      <p:sp>
        <p:nvSpPr>
          <p:cNvPr id="174172888" name="TextBox 6"/>
          <p:cNvSpPr txBox="1"/>
          <p:nvPr/>
        </p:nvSpPr>
        <p:spPr bwMode="auto">
          <a:xfrm>
            <a:off x="2667000" y="4500562"/>
            <a:ext cx="31051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0" i="0" u="none">
                <a:solidFill>
                  <a:srgbClr val="64748B"/>
                </a:solidFill>
                <a:latin typeface="Plus Jakarta Sans"/>
              </a:rPr>
              <a:t>TEAM MEMBERS</a:t>
            </a:r>
            <a:endParaRPr/>
          </a:p>
        </p:txBody>
      </p:sp>
      <p:sp>
        <p:nvSpPr>
          <p:cNvPr id="1478373012" name="TextBox 7"/>
          <p:cNvSpPr txBox="1"/>
          <p:nvPr/>
        </p:nvSpPr>
        <p:spPr bwMode="auto">
          <a:xfrm>
            <a:off x="2667000" y="4643437"/>
            <a:ext cx="31051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50" b="0" i="0" u="none">
                <a:solidFill>
                  <a:srgbClr val="E2E8F0"/>
                </a:solidFill>
                <a:latin typeface="Plus Jakarta Sans SemiBold"/>
              </a:rPr>
              <a:t>Arshdeep Sahota | Alhan Mahfouz | Syed Razi</a:t>
            </a:r>
            <a:endParaRPr/>
          </a:p>
        </p:txBody>
      </p:sp>
      <p:sp>
        <p:nvSpPr>
          <p:cNvPr id="463845852" name="TextBox 8"/>
          <p:cNvSpPr txBox="1"/>
          <p:nvPr/>
        </p:nvSpPr>
        <p:spPr bwMode="auto">
          <a:xfrm>
            <a:off x="6057900" y="4500562"/>
            <a:ext cx="1733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0" i="0" u="none">
                <a:solidFill>
                  <a:srgbClr val="64748B"/>
                </a:solidFill>
                <a:latin typeface="Plus Jakarta Sans"/>
              </a:rPr>
              <a:t>SECTION &amp; INSTRUCTOR</a:t>
            </a:r>
            <a:endParaRPr/>
          </a:p>
        </p:txBody>
      </p:sp>
      <p:sp>
        <p:nvSpPr>
          <p:cNvPr id="226665588" name="TextBox 9"/>
          <p:cNvSpPr txBox="1"/>
          <p:nvPr/>
        </p:nvSpPr>
        <p:spPr bwMode="auto">
          <a:xfrm>
            <a:off x="6057900" y="4643437"/>
            <a:ext cx="173355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00" b="0" i="0" u="none">
                <a:solidFill>
                  <a:srgbClr val="E2E8F0"/>
                </a:solidFill>
                <a:latin typeface="Plus Jakarta Sans SemiBold"/>
              </a:rPr>
              <a:t>Section 301 | Prof. </a:t>
            </a:r>
            <a:r>
              <a:rPr lang="en-US" sz="1100">
                <a:solidFill>
                  <a:srgbClr val="E2E8F0"/>
                </a:solidFill>
                <a:latin typeface="Plus Jakarta Sans SemiBold"/>
              </a:rPr>
              <a:t>Sanaa</a:t>
            </a:r>
            <a:endParaRPr sz="1150" b="0" i="0" u="none">
              <a:solidFill>
                <a:srgbClr val="E2E8F0"/>
              </a:solidFill>
              <a:latin typeface="Plus Jakarta Sans SemiBold"/>
            </a:endParaRPr>
          </a:p>
        </p:txBody>
      </p:sp>
      <p:sp>
        <p:nvSpPr>
          <p:cNvPr id="1660055664" name="TextBox 10"/>
          <p:cNvSpPr txBox="1"/>
          <p:nvPr/>
        </p:nvSpPr>
        <p:spPr bwMode="auto">
          <a:xfrm>
            <a:off x="8077200" y="4500562"/>
            <a:ext cx="14478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900" b="0" i="0" u="none">
                <a:solidFill>
                  <a:srgbClr val="64748B"/>
                </a:solidFill>
                <a:latin typeface="Plus Jakarta Sans"/>
              </a:rPr>
              <a:t>ARCHITECTURE</a:t>
            </a:r>
            <a:endParaRPr/>
          </a:p>
        </p:txBody>
      </p:sp>
      <p:sp>
        <p:nvSpPr>
          <p:cNvPr id="728016690" name="TextBox 11"/>
          <p:cNvSpPr txBox="1"/>
          <p:nvPr/>
        </p:nvSpPr>
        <p:spPr bwMode="auto">
          <a:xfrm>
            <a:off x="8077200" y="4643437"/>
            <a:ext cx="1447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150" b="0" i="0" u="none">
                <a:solidFill>
                  <a:srgbClr val="E2E8F0"/>
                </a:solidFill>
                <a:latin typeface="Plus Jakarta Sans SemiBold"/>
              </a:rPr>
              <a:t>C++17 / Qt6 / CMake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1095677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88177749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2707481"/>
            <a:ext cx="5457825" cy="2138362"/>
          </a:xfrm>
          <a:prstGeom prst="rect">
            <a:avLst/>
          </a:prstGeom>
        </p:spPr>
      </p:pic>
      <p:pic>
        <p:nvPicPr>
          <p:cNvPr id="1915274920" name="Picture 3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48400" y="2707481"/>
            <a:ext cx="5457825" cy="2138362"/>
          </a:xfrm>
          <a:prstGeom prst="rect">
            <a:avLst/>
          </a:prstGeom>
        </p:spPr>
      </p:pic>
      <p:pic>
        <p:nvPicPr>
          <p:cNvPr id="230185150" name="Picture 4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5775" y="557212"/>
            <a:ext cx="260300" cy="266700"/>
          </a:xfrm>
          <a:prstGeom prst="rect">
            <a:avLst/>
          </a:prstGeom>
        </p:spPr>
      </p:pic>
      <p:sp>
        <p:nvSpPr>
          <p:cNvPr id="338807612" name="TextBox 5"/>
          <p:cNvSpPr txBox="1"/>
          <p:nvPr/>
        </p:nvSpPr>
        <p:spPr bwMode="auto">
          <a:xfrm>
            <a:off x="1044029" y="2983706"/>
            <a:ext cx="485451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Operational Bottlenecks</a:t>
            </a:r>
            <a:endParaRPr/>
          </a:p>
        </p:txBody>
      </p:sp>
      <p:sp>
        <p:nvSpPr>
          <p:cNvPr id="593789990" name="TextBox 6"/>
          <p:cNvSpPr txBox="1"/>
          <p:nvPr/>
        </p:nvSpPr>
        <p:spPr bwMode="auto">
          <a:xfrm>
            <a:off x="762000" y="3298031"/>
            <a:ext cx="4905375" cy="642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Traditional restaurant workflows suffer from manual order logging, billing delays, and error-prone tax/discount calculations during rush hours.</a:t>
            </a:r>
            <a:endParaRPr/>
          </a:p>
        </p:txBody>
      </p:sp>
      <p:sp>
        <p:nvSpPr>
          <p:cNvPr id="1631071564" name="TextBox 7"/>
          <p:cNvSpPr txBox="1"/>
          <p:nvPr/>
        </p:nvSpPr>
        <p:spPr bwMode="auto">
          <a:xfrm>
            <a:off x="762000" y="4140993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Waitstaff need instant seat state updates, cashiers require validated change processing, and managers lack real-time financial metrics.</a:t>
            </a:r>
            <a:endParaRPr/>
          </a:p>
        </p:txBody>
      </p:sp>
      <p:sp>
        <p:nvSpPr>
          <p:cNvPr id="808054163" name="TextBox 8"/>
          <p:cNvSpPr txBox="1"/>
          <p:nvPr/>
        </p:nvSpPr>
        <p:spPr bwMode="auto">
          <a:xfrm>
            <a:off x="6759029" y="2983706"/>
            <a:ext cx="490451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The BiteKing Solution</a:t>
            </a:r>
            <a:endParaRPr/>
          </a:p>
        </p:txBody>
      </p:sp>
      <p:sp>
        <p:nvSpPr>
          <p:cNvPr id="1989327975" name="TextBox 9"/>
          <p:cNvSpPr txBox="1"/>
          <p:nvPr/>
        </p:nvSpPr>
        <p:spPr bwMode="auto">
          <a:xfrm>
            <a:off x="6524625" y="3298031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BiteKing bridges digital restaurant management with smooth front-of-house desktop operations using a high-performance C++ backend.</a:t>
            </a:r>
            <a:endParaRPr/>
          </a:p>
        </p:txBody>
      </p:sp>
      <p:sp>
        <p:nvSpPr>
          <p:cNvPr id="164808796" name="TextBox 10"/>
          <p:cNvSpPr txBox="1"/>
          <p:nvPr/>
        </p:nvSpPr>
        <p:spPr bwMode="auto">
          <a:xfrm>
            <a:off x="6524625" y="3926681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Delivers real-time table state tracking, automated HST (13%) tax calculations, polymorphic menu discounting, and file persistence.</a:t>
            </a:r>
            <a:endParaRPr/>
          </a:p>
        </p:txBody>
      </p:sp>
      <p:pic>
        <p:nvPicPr>
          <p:cNvPr id="2038348395" name="Picture 11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762000" y="3007517"/>
            <a:ext cx="186779" cy="190500"/>
          </a:xfrm>
          <a:prstGeom prst="rect">
            <a:avLst/>
          </a:prstGeom>
        </p:spPr>
      </p:pic>
      <p:pic>
        <p:nvPicPr>
          <p:cNvPr id="1880994785" name="Picture 12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524625" y="3007517"/>
            <a:ext cx="139154" cy="190500"/>
          </a:xfrm>
          <a:prstGeom prst="rect">
            <a:avLst/>
          </a:prstGeom>
        </p:spPr>
      </p:pic>
      <p:sp>
        <p:nvSpPr>
          <p:cNvPr id="584982824" name="TextBox 13"/>
          <p:cNvSpPr txBox="1"/>
          <p:nvPr/>
        </p:nvSpPr>
        <p:spPr bwMode="auto">
          <a:xfrm>
            <a:off x="860375" y="485775"/>
            <a:ext cx="11331624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Problem &amp; Motivation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3705927" name="Picture 3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5775" y="557212"/>
            <a:ext cx="298400" cy="266700"/>
          </a:xfrm>
          <a:prstGeom prst="rect">
            <a:avLst/>
          </a:prstGeom>
        </p:spPr>
      </p:pic>
      <p:sp>
        <p:nvSpPr>
          <p:cNvPr id="589347932" name="TextBox 4"/>
          <p:cNvSpPr txBox="1"/>
          <p:nvPr/>
        </p:nvSpPr>
        <p:spPr bwMode="auto">
          <a:xfrm>
            <a:off x="485775" y="2162175"/>
            <a:ext cx="573071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5 Modular Operating Views</a:t>
            </a:r>
            <a:endParaRPr/>
          </a:p>
        </p:txBody>
      </p:sp>
      <p:sp>
        <p:nvSpPr>
          <p:cNvPr id="2021033819" name="TextBox 5"/>
          <p:cNvSpPr txBox="1"/>
          <p:nvPr/>
        </p:nvSpPr>
        <p:spPr bwMode="auto">
          <a:xfrm>
            <a:off x="714375" y="2676525"/>
            <a:ext cx="52292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Menu Explorer: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Live dish filtering, dynamic item additions, and price/type updates.</a:t>
            </a:r>
            <a:endParaRPr/>
          </a:p>
        </p:txBody>
      </p:sp>
      <p:sp>
        <p:nvSpPr>
          <p:cNvPr id="850165635" name="TextBox 6"/>
          <p:cNvSpPr txBox="1"/>
          <p:nvPr/>
        </p:nvSpPr>
        <p:spPr bwMode="auto">
          <a:xfrm>
            <a:off x="714375" y="3219449"/>
            <a:ext cx="52292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Order Manager: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Assigns orders to active tables with bounded spinner controls.</a:t>
            </a:r>
            <a:endParaRPr/>
          </a:p>
        </p:txBody>
      </p:sp>
      <p:sp>
        <p:nvSpPr>
          <p:cNvPr id="1794322419" name="TextBox 7"/>
          <p:cNvSpPr txBox="1"/>
          <p:nvPr/>
        </p:nvSpPr>
        <p:spPr bwMode="auto">
          <a:xfrm>
            <a:off x="714375" y="3762375"/>
            <a:ext cx="52292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Billing System: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Previews subtotal, 13% tax rate, happy-hour discounts, and net total.</a:t>
            </a:r>
            <a:endParaRPr/>
          </a:p>
        </p:txBody>
      </p:sp>
      <p:sp>
        <p:nvSpPr>
          <p:cNvPr id="67136583" name="TextBox 8"/>
          <p:cNvSpPr txBox="1"/>
          <p:nvPr/>
        </p:nvSpPr>
        <p:spPr bwMode="auto">
          <a:xfrm>
            <a:off x="714375" y="4305300"/>
            <a:ext cx="52292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Payment Processing: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Validates Cash/Card methods with automated change calculations.</a:t>
            </a:r>
            <a:endParaRPr/>
          </a:p>
        </p:txBody>
      </p:sp>
      <p:sp>
        <p:nvSpPr>
          <p:cNvPr id="1083338212" name="TextBox 9"/>
          <p:cNvSpPr txBox="1"/>
          <p:nvPr/>
        </p:nvSpPr>
        <p:spPr bwMode="auto">
          <a:xfrm>
            <a:off x="714375" y="4848225"/>
            <a:ext cx="52292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Real-Time Analytics: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Evaluates daily sales totals and top-selling menu items.</a:t>
            </a:r>
            <a:endParaRPr/>
          </a:p>
        </p:txBody>
      </p:sp>
      <p:sp>
        <p:nvSpPr>
          <p:cNvPr id="1395219140" name="TextBox 11"/>
          <p:cNvSpPr txBox="1"/>
          <p:nvPr/>
        </p:nvSpPr>
        <p:spPr bwMode="auto">
          <a:xfrm>
            <a:off x="485775" y="2676525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733397923" name="TextBox 12"/>
          <p:cNvSpPr txBox="1"/>
          <p:nvPr/>
        </p:nvSpPr>
        <p:spPr bwMode="auto">
          <a:xfrm>
            <a:off x="485775" y="3219449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1039187574" name="TextBox 13"/>
          <p:cNvSpPr txBox="1"/>
          <p:nvPr/>
        </p:nvSpPr>
        <p:spPr bwMode="auto">
          <a:xfrm>
            <a:off x="485775" y="3762375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355707088" name="TextBox 14"/>
          <p:cNvSpPr txBox="1"/>
          <p:nvPr/>
        </p:nvSpPr>
        <p:spPr bwMode="auto">
          <a:xfrm>
            <a:off x="485775" y="4305300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256828818" name="TextBox 15"/>
          <p:cNvSpPr txBox="1"/>
          <p:nvPr/>
        </p:nvSpPr>
        <p:spPr bwMode="auto">
          <a:xfrm>
            <a:off x="485775" y="4848225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1910099328" name="TextBox 16"/>
          <p:cNvSpPr txBox="1"/>
          <p:nvPr/>
        </p:nvSpPr>
        <p:spPr bwMode="auto">
          <a:xfrm>
            <a:off x="898476" y="485774"/>
            <a:ext cx="11293524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System Architecture &amp; Overview</a:t>
            </a:r>
            <a:endParaRPr/>
          </a:p>
        </p:txBody>
      </p:sp>
      <p:pic>
        <p:nvPicPr>
          <p:cNvPr id="286960079" name="Picture 1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095999" y="2060521"/>
            <a:ext cx="6096001" cy="31921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6381501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88282363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86500" y="9525"/>
            <a:ext cx="5895975" cy="6838950"/>
          </a:xfrm>
          <a:prstGeom prst="rect">
            <a:avLst/>
          </a:prstGeom>
        </p:spPr>
      </p:pic>
      <p:sp>
        <p:nvSpPr>
          <p:cNvPr id="987020932" name="TextBox 3"/>
          <p:cNvSpPr txBox="1"/>
          <p:nvPr/>
        </p:nvSpPr>
        <p:spPr bwMode="auto">
          <a:xfrm>
            <a:off x="898474" y="2281237"/>
            <a:ext cx="5257375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Software Class Design</a:t>
            </a:r>
            <a:endParaRPr/>
          </a:p>
        </p:txBody>
      </p:sp>
      <p:pic>
        <p:nvPicPr>
          <p:cNvPr id="1441846880" name="Picture 5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5775" y="2352675"/>
            <a:ext cx="298400" cy="266700"/>
          </a:xfrm>
          <a:prstGeom prst="rect">
            <a:avLst/>
          </a:prstGeom>
        </p:spPr>
      </p:pic>
      <p:sp>
        <p:nvSpPr>
          <p:cNvPr id="620711936" name="TextBox 6"/>
          <p:cNvSpPr txBox="1"/>
          <p:nvPr/>
        </p:nvSpPr>
        <p:spPr bwMode="auto">
          <a:xfrm>
            <a:off x="485775" y="2976562"/>
            <a:ext cx="569071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Object Class Architecture</a:t>
            </a:r>
            <a:endParaRPr/>
          </a:p>
        </p:txBody>
      </p:sp>
      <p:sp>
        <p:nvSpPr>
          <p:cNvPr id="245801908" name="TextBox 7"/>
          <p:cNvSpPr txBox="1"/>
          <p:nvPr/>
        </p:nvSpPr>
        <p:spPr bwMode="auto">
          <a:xfrm>
            <a:off x="485775" y="3290887"/>
            <a:ext cx="54197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Base Hierarchy: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MenuItem abstract class derived into specialized FoodItem and BeverageItem entities.</a:t>
            </a:r>
            <a:endParaRPr/>
          </a:p>
        </p:txBody>
      </p:sp>
      <p:sp>
        <p:nvSpPr>
          <p:cNvPr id="99043920" name="TextBox 8"/>
          <p:cNvSpPr txBox="1"/>
          <p:nvPr/>
        </p:nvSpPr>
        <p:spPr bwMode="auto">
          <a:xfrm>
            <a:off x="485775" y="3719512"/>
            <a:ext cx="54197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Table Ownership: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DiningTable manages CustomerOrder via std::unique_ptr for single ownership memory safety.</a:t>
            </a:r>
            <a:endParaRPr/>
          </a:p>
        </p:txBody>
      </p:sp>
      <p:sp>
        <p:nvSpPr>
          <p:cNvPr id="1398418412" name="TextBox 9"/>
          <p:cNvSpPr txBox="1"/>
          <p:nvPr/>
        </p:nvSpPr>
        <p:spPr bwMode="auto">
          <a:xfrm>
            <a:off x="485775" y="4148137"/>
            <a:ext cx="54197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Shared Memory: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RestaurantManager manages catalog items through std::shared_ptr.</a:t>
            </a:r>
            <a:endParaRPr/>
          </a:p>
        </p:txBody>
      </p:sp>
      <p:pic>
        <p:nvPicPr>
          <p:cNvPr id="1317115061" name="Picture 10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288936" y="672934"/>
            <a:ext cx="5898154" cy="56605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21456488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85078936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2657475"/>
            <a:ext cx="3587799" cy="2238375"/>
          </a:xfrm>
          <a:prstGeom prst="rect">
            <a:avLst/>
          </a:prstGeom>
        </p:spPr>
      </p:pic>
      <p:pic>
        <p:nvPicPr>
          <p:cNvPr id="1241447217" name="Picture 3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302174" y="2657475"/>
            <a:ext cx="3587799" cy="2238375"/>
          </a:xfrm>
          <a:prstGeom prst="rect">
            <a:avLst/>
          </a:prstGeom>
        </p:spPr>
      </p:pic>
      <p:pic>
        <p:nvPicPr>
          <p:cNvPr id="1006254649" name="Picture 4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8118574" y="2657475"/>
            <a:ext cx="3587799" cy="2238375"/>
          </a:xfrm>
          <a:prstGeom prst="rect">
            <a:avLst/>
          </a:prstGeom>
        </p:spPr>
      </p:pic>
      <p:pic>
        <p:nvPicPr>
          <p:cNvPr id="667090869" name="Picture 5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485775" y="557212"/>
            <a:ext cx="326975" cy="266700"/>
          </a:xfrm>
          <a:prstGeom prst="rect">
            <a:avLst/>
          </a:prstGeom>
        </p:spPr>
      </p:pic>
      <p:pic>
        <p:nvPicPr>
          <p:cNvPr id="1746007361" name="Picture 6" descr="ima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23900" y="2895600"/>
            <a:ext cx="438149" cy="438149"/>
          </a:xfrm>
          <a:prstGeom prst="rect">
            <a:avLst/>
          </a:prstGeom>
        </p:spPr>
      </p:pic>
      <p:sp>
        <p:nvSpPr>
          <p:cNvPr id="934768667" name="TextBox 7"/>
          <p:cNvSpPr txBox="1"/>
          <p:nvPr/>
        </p:nvSpPr>
        <p:spPr bwMode="auto">
          <a:xfrm>
            <a:off x="723900" y="3486150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Inheritance &amp; Abstraction</a:t>
            </a:r>
            <a:endParaRPr/>
          </a:p>
        </p:txBody>
      </p:sp>
      <p:sp>
        <p:nvSpPr>
          <p:cNvPr id="1968539732" name="TextBox 8"/>
          <p:cNvSpPr txBox="1"/>
          <p:nvPr/>
        </p:nvSpPr>
        <p:spPr bwMode="auto">
          <a:xfrm>
            <a:off x="723900" y="3800475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MenuItem defines abstract pure virtual displayItem() = 0. Extended by FoodItem (cuisine, prep time) and BeverageItem (volume, fizzy status).</a:t>
            </a:r>
            <a:endParaRPr/>
          </a:p>
        </p:txBody>
      </p:sp>
      <p:pic>
        <p:nvPicPr>
          <p:cNvPr id="1626630703" name="Picture 9" descr="image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540299" y="2895600"/>
            <a:ext cx="438149" cy="438149"/>
          </a:xfrm>
          <a:prstGeom prst="rect">
            <a:avLst/>
          </a:prstGeom>
        </p:spPr>
      </p:pic>
      <p:sp>
        <p:nvSpPr>
          <p:cNvPr id="1938240382" name="TextBox 10"/>
          <p:cNvSpPr txBox="1"/>
          <p:nvPr/>
        </p:nvSpPr>
        <p:spPr bwMode="auto">
          <a:xfrm>
            <a:off x="4540299" y="3486150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Runtime Polymorphism</a:t>
            </a:r>
            <a:endParaRPr/>
          </a:p>
        </p:txBody>
      </p:sp>
      <p:sp>
        <p:nvSpPr>
          <p:cNvPr id="1631653223" name="TextBox 11"/>
          <p:cNvSpPr txBox="1"/>
          <p:nvPr/>
        </p:nvSpPr>
        <p:spPr bwMode="auto">
          <a:xfrm>
            <a:off x="4540299" y="3800475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Virtual methods calculateFinalPrice() and calculateDiscountedPrice() are invoked polymorphically across heterogeneous menu lists at runtime.</a:t>
            </a:r>
            <a:endParaRPr/>
          </a:p>
        </p:txBody>
      </p:sp>
      <p:pic>
        <p:nvPicPr>
          <p:cNvPr id="911843892" name="Picture 12" descr="ima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8356699" y="2895600"/>
            <a:ext cx="438149" cy="438149"/>
          </a:xfrm>
          <a:prstGeom prst="rect">
            <a:avLst/>
          </a:prstGeom>
        </p:spPr>
      </p:pic>
      <p:sp>
        <p:nvSpPr>
          <p:cNvPr id="1700583354" name="TextBox 13"/>
          <p:cNvSpPr txBox="1"/>
          <p:nvPr/>
        </p:nvSpPr>
        <p:spPr bwMode="auto">
          <a:xfrm>
            <a:off x="8356699" y="3486150"/>
            <a:ext cx="326712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Encapsulation &amp; Protection</a:t>
            </a:r>
            <a:endParaRPr/>
          </a:p>
        </p:txBody>
      </p:sp>
      <p:sp>
        <p:nvSpPr>
          <p:cNvPr id="1861697034" name="TextBox 14"/>
          <p:cNvSpPr txBox="1"/>
          <p:nvPr/>
        </p:nvSpPr>
        <p:spPr bwMode="auto">
          <a:xfrm>
            <a:off x="8356699" y="3800475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All core attributes remain private or protected. Setter methods enforce numeric guardrails preventing negative prices or empty string IDs.</a:t>
            </a:r>
            <a:endParaRPr/>
          </a:p>
        </p:txBody>
      </p:sp>
      <p:pic>
        <p:nvPicPr>
          <p:cNvPr id="1121920136" name="Picture 15" descr="image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823912" y="3009900"/>
            <a:ext cx="238125" cy="209550"/>
          </a:xfrm>
          <a:prstGeom prst="rect">
            <a:avLst/>
          </a:prstGeom>
        </p:spPr>
      </p:pic>
      <p:pic>
        <p:nvPicPr>
          <p:cNvPr id="1771915202" name="Picture 16" descr="image.png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4640312" y="3009900"/>
            <a:ext cx="238125" cy="209550"/>
          </a:xfrm>
          <a:prstGeom prst="rect">
            <a:avLst/>
          </a:prstGeom>
        </p:spPr>
      </p:pic>
      <p:pic>
        <p:nvPicPr>
          <p:cNvPr id="1325625833" name="Picture 17" descr="image.png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8442424" y="3009900"/>
            <a:ext cx="266700" cy="209550"/>
          </a:xfrm>
          <a:prstGeom prst="rect">
            <a:avLst/>
          </a:prstGeom>
        </p:spPr>
      </p:pic>
      <p:sp>
        <p:nvSpPr>
          <p:cNvPr id="881470299" name="TextBox 18"/>
          <p:cNvSpPr txBox="1"/>
          <p:nvPr/>
        </p:nvSpPr>
        <p:spPr bwMode="auto">
          <a:xfrm>
            <a:off x="927050" y="485775"/>
            <a:ext cx="1126494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Core C++ OOP Principles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3641517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4642619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2707481"/>
            <a:ext cx="5457825" cy="2138362"/>
          </a:xfrm>
          <a:prstGeom prst="rect">
            <a:avLst/>
          </a:prstGeom>
        </p:spPr>
      </p:pic>
      <p:pic>
        <p:nvPicPr>
          <p:cNvPr id="2052955158" name="Picture 3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6248400" y="2707481"/>
            <a:ext cx="5457825" cy="2138362"/>
          </a:xfrm>
          <a:prstGeom prst="rect">
            <a:avLst/>
          </a:prstGeom>
        </p:spPr>
      </p:pic>
      <p:pic>
        <p:nvPicPr>
          <p:cNvPr id="764572255" name="Picture 4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5775" y="557212"/>
            <a:ext cx="326975" cy="266700"/>
          </a:xfrm>
          <a:prstGeom prst="rect">
            <a:avLst/>
          </a:prstGeom>
        </p:spPr>
      </p:pic>
      <p:sp>
        <p:nvSpPr>
          <p:cNvPr id="2107308419" name="TextBox 5"/>
          <p:cNvSpPr txBox="1"/>
          <p:nvPr/>
        </p:nvSpPr>
        <p:spPr bwMode="auto">
          <a:xfrm>
            <a:off x="857250" y="2983706"/>
            <a:ext cx="5050631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Templates &amp; Overloading</a:t>
            </a:r>
            <a:endParaRPr/>
          </a:p>
        </p:txBody>
      </p:sp>
      <p:sp>
        <p:nvSpPr>
          <p:cNvPr id="513302448" name="TextBox 6"/>
          <p:cNvSpPr txBox="1"/>
          <p:nvPr/>
        </p:nvSpPr>
        <p:spPr bwMode="auto">
          <a:xfrm>
            <a:off x="762000" y="3298031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Generic Analytics: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AnalyticsEngine operates polymorphically over Bill and Payment histories using SFINAE compile-time dispatch.</a:t>
            </a:r>
            <a:endParaRPr/>
          </a:p>
        </p:txBody>
      </p:sp>
      <p:sp>
        <p:nvSpPr>
          <p:cNvPr id="1047373570" name="TextBox 7"/>
          <p:cNvSpPr txBox="1"/>
          <p:nvPr/>
        </p:nvSpPr>
        <p:spPr bwMode="auto">
          <a:xfrm>
            <a:off x="762000" y="3926681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Operator Overloading: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Overloaded comparison operator== for item IDs and friend stream output operator&lt;&lt; for standard output logging.</a:t>
            </a:r>
            <a:endParaRPr/>
          </a:p>
        </p:txBody>
      </p:sp>
      <p:sp>
        <p:nvSpPr>
          <p:cNvPr id="1177388764" name="TextBox 8"/>
          <p:cNvSpPr txBox="1"/>
          <p:nvPr/>
        </p:nvSpPr>
        <p:spPr bwMode="auto">
          <a:xfrm>
            <a:off x="6835229" y="2983706"/>
            <a:ext cx="482450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STL &amp; Smart Pointers</a:t>
            </a:r>
            <a:endParaRPr/>
          </a:p>
        </p:txBody>
      </p:sp>
      <p:sp>
        <p:nvSpPr>
          <p:cNvPr id="252606087" name="TextBox 9"/>
          <p:cNvSpPr txBox="1"/>
          <p:nvPr/>
        </p:nvSpPr>
        <p:spPr bwMode="auto">
          <a:xfrm>
            <a:off x="6524625" y="3298031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STL Containers: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std::vector for cache-friendly order line storage and std::map for fast table queries.</a:t>
            </a:r>
            <a:endParaRPr/>
          </a:p>
        </p:txBody>
      </p:sp>
      <p:sp>
        <p:nvSpPr>
          <p:cNvPr id="2131776187" name="TextBox 10"/>
          <p:cNvSpPr txBox="1"/>
          <p:nvPr/>
        </p:nvSpPr>
        <p:spPr bwMode="auto">
          <a:xfrm>
            <a:off x="6524625" y="3926681"/>
            <a:ext cx="4905375" cy="642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Smart Pointer Memory: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std::shared_ptr for shared menu catalog instances and std::unique_ptr for exclusive table lifecycle management.</a:t>
            </a:r>
            <a:endParaRPr/>
          </a:p>
        </p:txBody>
      </p:sp>
      <p:pic>
        <p:nvPicPr>
          <p:cNvPr id="762693997" name="Picture 11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524625" y="3007517"/>
            <a:ext cx="215354" cy="190500"/>
          </a:xfrm>
          <a:prstGeom prst="rect">
            <a:avLst/>
          </a:prstGeom>
        </p:spPr>
      </p:pic>
      <p:sp>
        <p:nvSpPr>
          <p:cNvPr id="1533214389" name="TextBox 12"/>
          <p:cNvSpPr txBox="1"/>
          <p:nvPr/>
        </p:nvSpPr>
        <p:spPr bwMode="auto">
          <a:xfrm>
            <a:off x="927050" y="485775"/>
            <a:ext cx="1126494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Advanced C++ Features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5838708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61450831" name="Picture 3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557212"/>
            <a:ext cx="298400" cy="266700"/>
          </a:xfrm>
          <a:prstGeom prst="rect">
            <a:avLst/>
          </a:prstGeom>
        </p:spPr>
      </p:pic>
      <p:sp>
        <p:nvSpPr>
          <p:cNvPr id="612692331" name="Rounded Rectangle 5"/>
          <p:cNvSpPr/>
          <p:nvPr/>
        </p:nvSpPr>
        <p:spPr bwMode="auto">
          <a:xfrm>
            <a:off x="6248400" y="2324100"/>
            <a:ext cx="5457825" cy="752475"/>
          </a:xfrm>
          <a:prstGeom prst="roundRect">
            <a:avLst>
              <a:gd name="adj" fmla="val 126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56453069" name="TextBox 6"/>
          <p:cNvSpPr txBox="1"/>
          <p:nvPr/>
        </p:nvSpPr>
        <p:spPr bwMode="auto">
          <a:xfrm>
            <a:off x="6762750" y="2476500"/>
            <a:ext cx="475297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Responsive Layout Packing: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Nested QHBoxLayout, QVBoxLayout, and QGridLayout wrappers prevent UI stretching.</a:t>
            </a:r>
            <a:endParaRPr/>
          </a:p>
        </p:txBody>
      </p:sp>
      <p:sp>
        <p:nvSpPr>
          <p:cNvPr id="87081033" name="Rounded Rectangle 7"/>
          <p:cNvSpPr/>
          <p:nvPr/>
        </p:nvSpPr>
        <p:spPr bwMode="auto">
          <a:xfrm>
            <a:off x="6248400" y="3343275"/>
            <a:ext cx="5457825" cy="752475"/>
          </a:xfrm>
          <a:prstGeom prst="roundRect">
            <a:avLst>
              <a:gd name="adj" fmla="val 126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20467850" name="TextBox 8"/>
          <p:cNvSpPr txBox="1"/>
          <p:nvPr/>
        </p:nvSpPr>
        <p:spPr bwMode="auto">
          <a:xfrm>
            <a:off x="6762750" y="3495675"/>
            <a:ext cx="475297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Signal &amp; Slot Communication: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Event-driven architecture binds table seat button clicks directly to order updates.</a:t>
            </a:r>
            <a:endParaRPr/>
          </a:p>
        </p:txBody>
      </p:sp>
      <p:sp>
        <p:nvSpPr>
          <p:cNvPr id="279786159" name="Rounded Rectangle 9"/>
          <p:cNvSpPr/>
          <p:nvPr/>
        </p:nvSpPr>
        <p:spPr bwMode="auto">
          <a:xfrm>
            <a:off x="6248400" y="4362450"/>
            <a:ext cx="5457825" cy="752475"/>
          </a:xfrm>
          <a:prstGeom prst="roundRect">
            <a:avLst>
              <a:gd name="adj" fmla="val 1265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06853275" name="TextBox 10"/>
          <p:cNvSpPr txBox="1"/>
          <p:nvPr/>
        </p:nvSpPr>
        <p:spPr bwMode="auto">
          <a:xfrm>
            <a:off x="6762750" y="4514850"/>
            <a:ext cx="475297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Dynamic QSS Theme Switcher: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Dark and Light modes with custom input field overrides.</a:t>
            </a:r>
            <a:endParaRPr/>
          </a:p>
        </p:txBody>
      </p:sp>
      <p:sp>
        <p:nvSpPr>
          <p:cNvPr id="686607306" name="TextBox 11"/>
          <p:cNvSpPr txBox="1"/>
          <p:nvPr/>
        </p:nvSpPr>
        <p:spPr bwMode="auto">
          <a:xfrm>
            <a:off x="6248400" y="2476500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599781197" name="Rectangle 12"/>
          <p:cNvSpPr/>
          <p:nvPr/>
        </p:nvSpPr>
        <p:spPr bwMode="auto">
          <a:xfrm>
            <a:off x="6248400" y="3067050"/>
            <a:ext cx="5457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69041201" name="TextBox 13"/>
          <p:cNvSpPr txBox="1"/>
          <p:nvPr/>
        </p:nvSpPr>
        <p:spPr bwMode="auto">
          <a:xfrm>
            <a:off x="6248400" y="3495675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94691369" name="Rectangle 14"/>
          <p:cNvSpPr/>
          <p:nvPr/>
        </p:nvSpPr>
        <p:spPr bwMode="auto">
          <a:xfrm>
            <a:off x="6248400" y="4086225"/>
            <a:ext cx="5457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2306954" name="TextBox 15"/>
          <p:cNvSpPr txBox="1"/>
          <p:nvPr/>
        </p:nvSpPr>
        <p:spPr bwMode="auto">
          <a:xfrm>
            <a:off x="6248400" y="4514850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1868642185" name="Rectangle 16"/>
          <p:cNvSpPr/>
          <p:nvPr/>
        </p:nvSpPr>
        <p:spPr bwMode="auto">
          <a:xfrm>
            <a:off x="6248400" y="5105400"/>
            <a:ext cx="5457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66151151" name="Picture 17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448425" y="2500312"/>
            <a:ext cx="190500" cy="200025"/>
          </a:xfrm>
          <a:prstGeom prst="rect">
            <a:avLst/>
          </a:prstGeom>
        </p:spPr>
      </p:pic>
      <p:pic>
        <p:nvPicPr>
          <p:cNvPr id="374512409" name="Picture 18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448425" y="3519487"/>
            <a:ext cx="171450" cy="200025"/>
          </a:xfrm>
          <a:prstGeom prst="rect">
            <a:avLst/>
          </a:prstGeom>
        </p:spPr>
      </p:pic>
      <p:pic>
        <p:nvPicPr>
          <p:cNvPr id="2146565215" name="Picture 19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6448425" y="4538662"/>
            <a:ext cx="190500" cy="200025"/>
          </a:xfrm>
          <a:prstGeom prst="rect">
            <a:avLst/>
          </a:prstGeom>
        </p:spPr>
      </p:pic>
      <p:sp>
        <p:nvSpPr>
          <p:cNvPr id="245892119" name="TextBox 20"/>
          <p:cNvSpPr txBox="1"/>
          <p:nvPr/>
        </p:nvSpPr>
        <p:spPr bwMode="auto">
          <a:xfrm>
            <a:off x="898474" y="485775"/>
            <a:ext cx="11293524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GUI Demonstration &amp; Qt6 Architecture</a:t>
            </a:r>
            <a:endParaRPr/>
          </a:p>
        </p:txBody>
      </p:sp>
      <p:pic>
        <p:nvPicPr>
          <p:cNvPr id="932346223" name="Picture 21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18752" y="2225178"/>
            <a:ext cx="5868390" cy="29915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9022073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79033048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2614612"/>
            <a:ext cx="5457825" cy="2324100"/>
          </a:xfrm>
          <a:prstGeom prst="rect">
            <a:avLst/>
          </a:prstGeom>
        </p:spPr>
      </p:pic>
      <p:pic>
        <p:nvPicPr>
          <p:cNvPr id="604670827" name="Picture 3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248400" y="2614612"/>
            <a:ext cx="5457825" cy="2324100"/>
          </a:xfrm>
          <a:prstGeom prst="rect">
            <a:avLst/>
          </a:prstGeom>
        </p:spPr>
      </p:pic>
      <p:pic>
        <p:nvPicPr>
          <p:cNvPr id="115636864" name="Picture 4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85775" y="557212"/>
            <a:ext cx="231725" cy="266700"/>
          </a:xfrm>
          <a:prstGeom prst="rect">
            <a:avLst/>
          </a:prstGeom>
        </p:spPr>
      </p:pic>
      <p:sp>
        <p:nvSpPr>
          <p:cNvPr id="987211582" name="TextBox 5"/>
          <p:cNvSpPr txBox="1"/>
          <p:nvPr/>
        </p:nvSpPr>
        <p:spPr bwMode="auto">
          <a:xfrm>
            <a:off x="996403" y="2890837"/>
            <a:ext cx="4904519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Polymorphic Serialization</a:t>
            </a:r>
            <a:endParaRPr/>
          </a:p>
        </p:txBody>
      </p:sp>
      <p:sp>
        <p:nvSpPr>
          <p:cNvPr id="1504075422" name="TextBox 6"/>
          <p:cNvSpPr txBox="1"/>
          <p:nvPr/>
        </p:nvSpPr>
        <p:spPr bwMode="auto">
          <a:xfrm>
            <a:off x="762000" y="3205162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Menu catalog stored in structured pipe-delimited local file format menu.txt.</a:t>
            </a:r>
            <a:endParaRPr/>
          </a:p>
        </p:txBody>
      </p:sp>
      <p:sp>
        <p:nvSpPr>
          <p:cNvPr id="137708780" name="TextBox 7"/>
          <p:cNvSpPr txBox="1"/>
          <p:nvPr/>
        </p:nvSpPr>
        <p:spPr bwMode="auto">
          <a:xfrm>
            <a:off x="762000" y="3833812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Starts each record line with concrete type tags (FOOD or BEV) enabling seamless factory reconstruction on startup:</a:t>
            </a:r>
            <a:endParaRPr/>
          </a:p>
        </p:txBody>
      </p:sp>
      <p:sp>
        <p:nvSpPr>
          <p:cNvPr id="1570860396" name="TextBox 8"/>
          <p:cNvSpPr txBox="1"/>
          <p:nvPr/>
        </p:nvSpPr>
        <p:spPr bwMode="auto">
          <a:xfrm>
            <a:off x="6806654" y="2890837"/>
            <a:ext cx="4854512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Transaction Logging</a:t>
            </a:r>
            <a:endParaRPr/>
          </a:p>
        </p:txBody>
      </p:sp>
      <p:sp>
        <p:nvSpPr>
          <p:cNvPr id="1839970910" name="TextBox 9"/>
          <p:cNvSpPr txBox="1"/>
          <p:nvPr/>
        </p:nvSpPr>
        <p:spPr bwMode="auto">
          <a:xfrm>
            <a:off x="6524625" y="3205162"/>
            <a:ext cx="49053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The DataManager persistent logging subsystem reads and writes transaction streams.</a:t>
            </a:r>
            <a:endParaRPr/>
          </a:p>
        </p:txBody>
      </p:sp>
      <p:sp>
        <p:nvSpPr>
          <p:cNvPr id="1669943881" name="TextBox 10"/>
          <p:cNvSpPr txBox="1"/>
          <p:nvPr/>
        </p:nvSpPr>
        <p:spPr bwMode="auto">
          <a:xfrm>
            <a:off x="6524625" y="3833812"/>
            <a:ext cx="4905375" cy="6429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0" i="0" u="none">
                <a:solidFill>
                  <a:srgbClr val="94A3B8"/>
                </a:solidFill>
                <a:latin typeface="Plus Jakarta Sans"/>
              </a:rPr>
              <a:t>Saves completed bills, customer orders, and payment histories to track financial metrics and historical sales continuity across application restarts.</a:t>
            </a:r>
            <a:endParaRPr/>
          </a:p>
        </p:txBody>
      </p:sp>
      <p:pic>
        <p:nvPicPr>
          <p:cNvPr id="1137393304" name="Picture 11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62000" y="2914650"/>
            <a:ext cx="139154" cy="190500"/>
          </a:xfrm>
          <a:prstGeom prst="rect">
            <a:avLst/>
          </a:prstGeom>
        </p:spPr>
      </p:pic>
      <p:pic>
        <p:nvPicPr>
          <p:cNvPr id="491861543" name="Picture 12" descr="ima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524625" y="2914650"/>
            <a:ext cx="186779" cy="190500"/>
          </a:xfrm>
          <a:prstGeom prst="rect">
            <a:avLst/>
          </a:prstGeom>
        </p:spPr>
      </p:pic>
      <p:sp>
        <p:nvSpPr>
          <p:cNvPr id="1373047747" name="TextBox 13"/>
          <p:cNvSpPr txBox="1"/>
          <p:nvPr/>
        </p:nvSpPr>
        <p:spPr bwMode="auto">
          <a:xfrm>
            <a:off x="831800" y="485775"/>
            <a:ext cx="1136019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Data Persistence &amp; File I/O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2958210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8932594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557212"/>
            <a:ext cx="260300" cy="266700"/>
          </a:xfrm>
          <a:prstGeom prst="rect">
            <a:avLst/>
          </a:prstGeom>
        </p:spPr>
      </p:pic>
      <p:graphicFrame>
        <p:nvGraphicFramePr>
          <p:cNvPr id="667024769" name="Table 3"/>
          <p:cNvGraphicFramePr>
            <a:graphicFrameLocks xmlns:a="http://schemas.openxmlformats.org/drawingml/2006/main" noGrp="1"/>
          </p:cNvGraphicFramePr>
          <p:nvPr/>
        </p:nvGraphicFramePr>
        <p:xfrm rot="0">
          <a:off x="485775" y="2333625"/>
          <a:ext cx="11201398" cy="2886075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628155"/>
                <a:gridCol w="2928491"/>
                <a:gridCol w="4543127"/>
                <a:gridCol w="1101625"/>
              </a:tblGrid>
              <a:tr h="48101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Test Case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Target Input / Action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Expected Behavior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15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1E293B"/>
                    </a:solidFill>
                  </a:tcPr>
                </a:tc>
              </a:tr>
              <a:tr h="48101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Menu Addition Validation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Short Name "A", Price: $0.00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Rejected with validation popup message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101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Duplicate ID Check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Add existing ID "ITEM-0001"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Addition blocked; duplicate warning shown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101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Boundary Limits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Order Quantity: -1 or 101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Input bounded strictly by QSpinBox [1..100]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1012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Insufficient Cash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Cash Tendered $10 for $15 Bill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Payment blocked with "Insufficient Cash" warning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81015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1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Card Payment Lock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Select "Card" mode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Cash field disabled; payment auto-locked to total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1050" b="0" i="0" u="none">
                          <a:solidFill>
                            <a:srgbClr val="94A3B8"/>
                          </a:solidFill>
                          <a:latin typeface="Plus Jakarta Sans SemiBold"/>
                        </a:rPr>
                        <a:t>PASS</a:t>
                      </a:r>
                      <a:endParaRPr/>
                    </a:p>
                  </a:txBody>
                  <a:tcPr marL="63500" marR="63500" marT="25400" marB="25400" anchor="ctr">
                    <a:lnL w="12700" algn="ctr">
                      <a:noFill/>
                    </a:lnL>
                    <a:lnR w="12700" algn="ctr">
                      <a:noFill/>
                    </a:lnR>
                    <a:lnT w="12700" algn="ctr">
                      <a:noFill/>
                    </a:lnT>
                    <a:lnB w="12700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19961836" name="Rectangle 4"/>
          <p:cNvSpPr/>
          <p:nvPr/>
        </p:nvSpPr>
        <p:spPr bwMode="auto">
          <a:xfrm>
            <a:off x="495300" y="2824162"/>
            <a:ext cx="262815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643041" name="Rectangle 5"/>
          <p:cNvSpPr/>
          <p:nvPr/>
        </p:nvSpPr>
        <p:spPr bwMode="auto">
          <a:xfrm>
            <a:off x="3123455" y="2824162"/>
            <a:ext cx="29284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1721777" name="Rectangle 6"/>
          <p:cNvSpPr/>
          <p:nvPr/>
        </p:nvSpPr>
        <p:spPr bwMode="auto">
          <a:xfrm>
            <a:off x="6051946" y="2824162"/>
            <a:ext cx="454312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080862" name="Rectangle 7"/>
          <p:cNvSpPr/>
          <p:nvPr/>
        </p:nvSpPr>
        <p:spPr bwMode="auto">
          <a:xfrm>
            <a:off x="10595074" y="2824162"/>
            <a:ext cx="11016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64922732" name="Rectangle 8"/>
          <p:cNvSpPr/>
          <p:nvPr/>
        </p:nvSpPr>
        <p:spPr bwMode="auto">
          <a:xfrm>
            <a:off x="495300" y="3300412"/>
            <a:ext cx="26281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33406689" name="Rectangle 9"/>
          <p:cNvSpPr/>
          <p:nvPr/>
        </p:nvSpPr>
        <p:spPr bwMode="auto">
          <a:xfrm>
            <a:off x="3123455" y="3300412"/>
            <a:ext cx="29284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44890463" name="Rectangle 10"/>
          <p:cNvSpPr/>
          <p:nvPr/>
        </p:nvSpPr>
        <p:spPr bwMode="auto">
          <a:xfrm>
            <a:off x="6051946" y="3300412"/>
            <a:ext cx="45431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7837684" name="Rectangle 11"/>
          <p:cNvSpPr/>
          <p:nvPr/>
        </p:nvSpPr>
        <p:spPr bwMode="auto">
          <a:xfrm>
            <a:off x="10595074" y="3300412"/>
            <a:ext cx="11016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44024258" name="Rectangle 12"/>
          <p:cNvSpPr/>
          <p:nvPr/>
        </p:nvSpPr>
        <p:spPr bwMode="auto">
          <a:xfrm>
            <a:off x="495300" y="3776662"/>
            <a:ext cx="26281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35643869" name="Rectangle 13"/>
          <p:cNvSpPr/>
          <p:nvPr/>
        </p:nvSpPr>
        <p:spPr bwMode="auto">
          <a:xfrm>
            <a:off x="3123455" y="3776662"/>
            <a:ext cx="29284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31376919" name="Rectangle 14"/>
          <p:cNvSpPr/>
          <p:nvPr/>
        </p:nvSpPr>
        <p:spPr bwMode="auto">
          <a:xfrm>
            <a:off x="6051946" y="3776662"/>
            <a:ext cx="45431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48491426" name="Rectangle 15"/>
          <p:cNvSpPr/>
          <p:nvPr/>
        </p:nvSpPr>
        <p:spPr bwMode="auto">
          <a:xfrm>
            <a:off x="10595074" y="3776662"/>
            <a:ext cx="11016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5458401" name="Rectangle 16"/>
          <p:cNvSpPr/>
          <p:nvPr/>
        </p:nvSpPr>
        <p:spPr bwMode="auto">
          <a:xfrm>
            <a:off x="495300" y="4257675"/>
            <a:ext cx="26281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628899" name="Rectangle 17"/>
          <p:cNvSpPr/>
          <p:nvPr/>
        </p:nvSpPr>
        <p:spPr bwMode="auto">
          <a:xfrm>
            <a:off x="3123455" y="4257675"/>
            <a:ext cx="29284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8841391" name="Rectangle 18"/>
          <p:cNvSpPr/>
          <p:nvPr/>
        </p:nvSpPr>
        <p:spPr bwMode="auto">
          <a:xfrm>
            <a:off x="6051946" y="4257675"/>
            <a:ext cx="45431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2019918" name="Rectangle 19"/>
          <p:cNvSpPr/>
          <p:nvPr/>
        </p:nvSpPr>
        <p:spPr bwMode="auto">
          <a:xfrm>
            <a:off x="10595074" y="4257675"/>
            <a:ext cx="11016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66603933" name="Rectangle 20"/>
          <p:cNvSpPr/>
          <p:nvPr/>
        </p:nvSpPr>
        <p:spPr bwMode="auto">
          <a:xfrm>
            <a:off x="495300" y="4733925"/>
            <a:ext cx="262815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25732150" name="Rectangle 21"/>
          <p:cNvSpPr/>
          <p:nvPr/>
        </p:nvSpPr>
        <p:spPr bwMode="auto">
          <a:xfrm>
            <a:off x="3123455" y="4733925"/>
            <a:ext cx="29284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19063564" name="Rectangle 22"/>
          <p:cNvSpPr/>
          <p:nvPr/>
        </p:nvSpPr>
        <p:spPr bwMode="auto">
          <a:xfrm>
            <a:off x="6051946" y="4733925"/>
            <a:ext cx="454312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8100467" name="Rectangle 23"/>
          <p:cNvSpPr/>
          <p:nvPr/>
        </p:nvSpPr>
        <p:spPr bwMode="auto">
          <a:xfrm>
            <a:off x="10595074" y="4733925"/>
            <a:ext cx="110162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42865151" name="TextBox 24"/>
          <p:cNvSpPr txBox="1"/>
          <p:nvPr/>
        </p:nvSpPr>
        <p:spPr bwMode="auto">
          <a:xfrm>
            <a:off x="860375" y="485775"/>
            <a:ext cx="11331624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Testing Matrix &amp; Edge Cases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5673897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69406411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2019300"/>
            <a:ext cx="5514975" cy="1609724"/>
          </a:xfrm>
          <a:prstGeom prst="rect">
            <a:avLst/>
          </a:prstGeom>
        </p:spPr>
      </p:pic>
      <p:pic>
        <p:nvPicPr>
          <p:cNvPr id="901566359" name="Picture 3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6191250" y="2019300"/>
            <a:ext cx="5514975" cy="1609724"/>
          </a:xfrm>
          <a:prstGeom prst="rect">
            <a:avLst/>
          </a:prstGeom>
        </p:spPr>
      </p:pic>
      <p:pic>
        <p:nvPicPr>
          <p:cNvPr id="311453560" name="Picture 6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85775" y="557212"/>
            <a:ext cx="260300" cy="266700"/>
          </a:xfrm>
          <a:prstGeom prst="rect">
            <a:avLst/>
          </a:prstGeom>
        </p:spPr>
      </p:pic>
      <p:sp>
        <p:nvSpPr>
          <p:cNvPr id="1143416618" name="TextBox 7"/>
          <p:cNvSpPr txBox="1"/>
          <p:nvPr/>
        </p:nvSpPr>
        <p:spPr bwMode="auto">
          <a:xfrm>
            <a:off x="704850" y="2238375"/>
            <a:ext cx="5330666" cy="238125"/>
          </a:xfrm>
          <a:prstGeom prst="rect">
            <a:avLst/>
          </a:prstGeom>
          <a:noFill/>
        </p:spPr>
        <p:txBody>
          <a:bodyPr wrap="square" lIns="215354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Linux GTK Theme Collision</a:t>
            </a:r>
            <a:endParaRPr/>
          </a:p>
        </p:txBody>
      </p:sp>
      <p:sp>
        <p:nvSpPr>
          <p:cNvPr id="514236478" name="TextBox 8"/>
          <p:cNvSpPr txBox="1"/>
          <p:nvPr/>
        </p:nvSpPr>
        <p:spPr bwMode="auto">
          <a:xfrm>
            <a:off x="704850" y="255270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87"/>
              </a:lnSpc>
              <a:defRPr/>
            </a:pPr>
            <a:r>
              <a:rPr sz="1100" b="1" i="0" u="none">
                <a:solidFill>
                  <a:srgbClr val="E2E8F0"/>
                </a:solidFill>
                <a:latin typeface="Plus Jakarta Sans"/>
              </a:rPr>
              <a:t>Challenge:</a:t>
            </a:r>
            <a:r>
              <a:rPr sz="1100" b="0" i="0" u="none">
                <a:solidFill>
                  <a:srgbClr val="94A3B8"/>
                </a:solidFill>
                <a:latin typeface="Plus Jakarta Sans"/>
              </a:rPr>
              <a:t> </a:t>
            </a:r>
            <a:r>
              <a:rPr sz="1100" b="0" i="0" u="none">
                <a:solidFill>
                  <a:srgbClr val="94A3B8"/>
                </a:solidFill>
                <a:latin typeface="Plus Jakarta Sans"/>
              </a:rPr>
              <a:t>Unstyled</a:t>
            </a:r>
            <a:r>
              <a:rPr sz="1100" b="0" i="0" u="none">
                <a:solidFill>
                  <a:srgbClr val="94A3B8"/>
                </a:solidFill>
                <a:latin typeface="Plus Jakarta Sans"/>
              </a:rPr>
              <a:t> </a:t>
            </a:r>
            <a:r>
              <a:rPr sz="1100" b="0" i="0" u="none">
                <a:solidFill>
                  <a:srgbClr val="94A3B8"/>
                </a:solidFill>
                <a:latin typeface="Plus Jakarta Sans"/>
              </a:rPr>
              <a:t>QLineEdit</a:t>
            </a:r>
            <a:r>
              <a:rPr sz="1100" b="0" i="0" u="none">
                <a:solidFill>
                  <a:srgbClr val="94A3B8"/>
                </a:solidFill>
                <a:latin typeface="Plus Jakarta Sans"/>
              </a:rPr>
              <a:t> search boxes inherited dark system text on dark backgrounds when switching themes.</a:t>
            </a:r>
            <a:r>
              <a:rPr lang="en-US" sz="1100">
                <a:solidFill>
                  <a:srgbClr val="94A3B8"/>
                </a:solidFill>
                <a:latin typeface="Plus Jakarta Sans"/>
              </a:rPr>
              <a:t> </a:t>
            </a:r>
            <a:endParaRPr lang="en-US" sz="1100" b="0" i="0" u="none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176297553" name="TextBox 9"/>
          <p:cNvSpPr txBox="1"/>
          <p:nvPr/>
        </p:nvSpPr>
        <p:spPr bwMode="auto">
          <a:xfrm>
            <a:off x="704850" y="298132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Solution: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Explicitly styled QLineEdit and QTableCornerButton elements inside stylesheet rules.</a:t>
            </a:r>
            <a:endParaRPr/>
          </a:p>
        </p:txBody>
      </p:sp>
      <p:sp>
        <p:nvSpPr>
          <p:cNvPr id="1685852867" name="TextBox 10"/>
          <p:cNvSpPr txBox="1"/>
          <p:nvPr/>
        </p:nvSpPr>
        <p:spPr bwMode="auto">
          <a:xfrm>
            <a:off x="6410325" y="2238375"/>
            <a:ext cx="5330666" cy="238125"/>
          </a:xfrm>
          <a:prstGeom prst="rect">
            <a:avLst/>
          </a:prstGeom>
          <a:noFill/>
        </p:spPr>
        <p:txBody>
          <a:bodyPr wrap="square" lIns="120104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QComboBox Arrow Disappearance</a:t>
            </a:r>
            <a:endParaRPr/>
          </a:p>
        </p:txBody>
      </p:sp>
      <p:sp>
        <p:nvSpPr>
          <p:cNvPr id="202472424" name="TextBox 11"/>
          <p:cNvSpPr txBox="1"/>
          <p:nvPr/>
        </p:nvSpPr>
        <p:spPr bwMode="auto">
          <a:xfrm>
            <a:off x="6410325" y="2552700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Challenge: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Applying custom border styles disabled native dropdown arrow rendering in combo boxes.</a:t>
            </a:r>
            <a:endParaRPr/>
          </a:p>
        </p:txBody>
      </p:sp>
      <p:sp>
        <p:nvSpPr>
          <p:cNvPr id="515633219" name="TextBox 12"/>
          <p:cNvSpPr txBox="1"/>
          <p:nvPr/>
        </p:nvSpPr>
        <p:spPr bwMode="auto">
          <a:xfrm>
            <a:off x="6410325" y="2981325"/>
            <a:ext cx="50768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Solution: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Implemented pure CSS/QSS downward arrows using border tricks in custom stylesheet rules.</a:t>
            </a:r>
            <a:endParaRPr/>
          </a:p>
        </p:txBody>
      </p:sp>
      <p:pic>
        <p:nvPicPr>
          <p:cNvPr id="1911103365" name="Picture 19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04850" y="2276475"/>
            <a:ext cx="215354" cy="190500"/>
          </a:xfrm>
          <a:prstGeom prst="rect">
            <a:avLst/>
          </a:prstGeom>
        </p:spPr>
      </p:pic>
      <p:pic>
        <p:nvPicPr>
          <p:cNvPr id="1319835975" name="Picture 20" descr="ima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410325" y="2276475"/>
            <a:ext cx="120104" cy="190500"/>
          </a:xfrm>
          <a:prstGeom prst="rect">
            <a:avLst/>
          </a:prstGeom>
        </p:spPr>
      </p:pic>
      <p:sp>
        <p:nvSpPr>
          <p:cNvPr id="145364047" name="TextBox 21"/>
          <p:cNvSpPr txBox="1"/>
          <p:nvPr/>
        </p:nvSpPr>
        <p:spPr bwMode="auto">
          <a:xfrm>
            <a:off x="860375" y="485775"/>
            <a:ext cx="11331624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Technical Challenges &amp; Solutions</a:t>
            </a:r>
            <a:endParaRPr/>
          </a:p>
        </p:txBody>
      </p:sp>
      <p:pic>
        <p:nvPicPr>
          <p:cNvPr id="750297925" name="Picture 27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454927" y="3859976"/>
            <a:ext cx="5514975" cy="1609724"/>
          </a:xfrm>
          <a:prstGeom prst="rect">
            <a:avLst/>
          </a:prstGeom>
        </p:spPr>
      </p:pic>
      <p:pic>
        <p:nvPicPr>
          <p:cNvPr id="887778858" name="Graphic 22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>
            <a:off x="3570285" y="3923475"/>
            <a:ext cx="307625" cy="364069"/>
          </a:xfrm>
          <a:prstGeom prst="rect">
            <a:avLst/>
          </a:prstGeom>
        </p:spPr>
      </p:pic>
      <p:sp>
        <p:nvSpPr>
          <p:cNvPr id="1505723486" name="TextBox 14"/>
          <p:cNvSpPr txBox="1"/>
          <p:nvPr/>
        </p:nvSpPr>
        <p:spPr bwMode="auto">
          <a:xfrm>
            <a:off x="3774720" y="3982214"/>
            <a:ext cx="2730499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lang="en-US" sz="1500">
                <a:solidFill>
                  <a:srgbClr val="FFFFFF"/>
                </a:solidFill>
                <a:latin typeface="Plus Jakarta Sans SemiBold"/>
              </a:rPr>
              <a:t>Input Validation for Menu Items</a:t>
            </a:r>
            <a:endParaRPr lang="en-US"/>
          </a:p>
        </p:txBody>
      </p:sp>
      <p:sp>
        <p:nvSpPr>
          <p:cNvPr id="103615113" name="TextBox 15"/>
          <p:cNvSpPr txBox="1"/>
          <p:nvPr/>
        </p:nvSpPr>
        <p:spPr bwMode="auto">
          <a:xfrm>
            <a:off x="3675062" y="4360506"/>
            <a:ext cx="5032374" cy="989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sz="1100">
                <a:solidFill>
                  <a:srgbClr val="FFFFFF"/>
                </a:solidFill>
                <a:latin typeface="Segoe UI"/>
                <a:cs typeface="Segoe UI"/>
              </a:rPr>
              <a:t>Challenge: </a:t>
            </a:r>
            <a:r>
              <a:rPr lang="en-US" sz="1100">
                <a:solidFill>
                  <a:srgbClr val="94A3B8"/>
                </a:solidFill>
                <a:ea typeface="+mn-lt"/>
                <a:cs typeface="+mn-lt"/>
              </a:rPr>
              <a:t>Menu items have strict requirements – ID format, name length/letters, price range, valid categories. Invalid data must not crash the system.</a:t>
            </a:r>
            <a:endParaRPr lang="en-US" sz="1100">
              <a:ea typeface="Calibri"/>
              <a:cs typeface="Calibri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sz="1100">
                <a:solidFill>
                  <a:schemeClr val="bg1"/>
                </a:solidFill>
                <a:ea typeface="Calibri"/>
                <a:cs typeface="Calibri"/>
              </a:rPr>
              <a:t>Solution: </a:t>
            </a:r>
            <a:r>
              <a:rPr lang="en-US" sz="1100">
                <a:solidFill>
                  <a:srgbClr val="94A3B8"/>
                </a:solidFill>
                <a:ea typeface="Calibri"/>
                <a:cs typeface="Calibri"/>
              </a:rPr>
              <a:t>All setters validate input and use safe defaults to prevent invalid data from crashing the system.</a:t>
            </a:r>
            <a:endParaRPr lang="en-US" sz="110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80487626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56420490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85775" y="2752725"/>
            <a:ext cx="3524250" cy="2047875"/>
          </a:xfrm>
          <a:prstGeom prst="rect">
            <a:avLst/>
          </a:prstGeom>
        </p:spPr>
      </p:pic>
      <p:pic>
        <p:nvPicPr>
          <p:cNvPr id="274187499" name="Picture 3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5775" y="557212"/>
            <a:ext cx="260300" cy="266700"/>
          </a:xfrm>
          <a:prstGeom prst="rect">
            <a:avLst/>
          </a:prstGeom>
        </p:spPr>
      </p:pic>
      <p:sp>
        <p:nvSpPr>
          <p:cNvPr id="1102928690" name="TextBox 4"/>
          <p:cNvSpPr txBox="1"/>
          <p:nvPr/>
        </p:nvSpPr>
        <p:spPr bwMode="auto">
          <a:xfrm>
            <a:off x="876299" y="3143250"/>
            <a:ext cx="27432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500"/>
              </a:lnSpc>
              <a:defRPr/>
            </a:pPr>
            <a:r>
              <a:rPr sz="7500" b="0" i="0" u="none">
                <a:solidFill>
                  <a:srgbClr val="38BDF8"/>
                </a:solidFill>
                <a:latin typeface="Plus Jakarta Sans ExtraBold"/>
              </a:rPr>
              <a:t>100%</a:t>
            </a:r>
            <a:endParaRPr/>
          </a:p>
        </p:txBody>
      </p:sp>
      <p:sp>
        <p:nvSpPr>
          <p:cNvPr id="295531880" name="TextBox 5"/>
          <p:cNvSpPr txBox="1"/>
          <p:nvPr/>
        </p:nvSpPr>
        <p:spPr bwMode="auto">
          <a:xfrm>
            <a:off x="876299" y="4191000"/>
            <a:ext cx="2743200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1350" b="0" i="0" u="none">
                <a:solidFill>
                  <a:srgbClr val="CBD5E1"/>
                </a:solidFill>
                <a:latin typeface="Plus Jakarta Sans SemiBold"/>
              </a:rPr>
              <a:t>Leak-Free Memory Safety</a:t>
            </a:r>
            <a:endParaRPr/>
          </a:p>
        </p:txBody>
      </p:sp>
      <p:sp>
        <p:nvSpPr>
          <p:cNvPr id="1880748656" name="TextBox 6"/>
          <p:cNvSpPr txBox="1"/>
          <p:nvPr/>
        </p:nvSpPr>
        <p:spPr bwMode="auto">
          <a:xfrm>
            <a:off x="4314825" y="2862262"/>
            <a:ext cx="716089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500" b="0" i="0" u="none">
                <a:solidFill>
                  <a:srgbClr val="F1F5F9"/>
                </a:solidFill>
                <a:latin typeface="Plus Jakarta Sans SemiBold"/>
              </a:rPr>
              <a:t>Summary of Accomplishments</a:t>
            </a:r>
            <a:endParaRPr/>
          </a:p>
        </p:txBody>
      </p:sp>
      <p:sp>
        <p:nvSpPr>
          <p:cNvPr id="1586707232" name="TextBox 7"/>
          <p:cNvSpPr txBox="1"/>
          <p:nvPr/>
        </p:nvSpPr>
        <p:spPr bwMode="auto">
          <a:xfrm>
            <a:off x="4543425" y="3376612"/>
            <a:ext cx="65913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Robust Modern C++: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Fully leveraged C++17 OOP, smart pointers, templates, and STL collections.</a:t>
            </a:r>
            <a:endParaRPr/>
          </a:p>
        </p:txBody>
      </p:sp>
      <p:sp>
        <p:nvSpPr>
          <p:cNvPr id="444200900" name="TextBox 8"/>
          <p:cNvSpPr txBox="1"/>
          <p:nvPr/>
        </p:nvSpPr>
        <p:spPr bwMode="auto">
          <a:xfrm>
            <a:off x="4543425" y="3705225"/>
            <a:ext cx="65913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Smooth Desktop GUI: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Built an intuitive Qt 6 interface for waitstaff, cashiers, and managers.</a:t>
            </a:r>
            <a:endParaRPr/>
          </a:p>
        </p:txBody>
      </p:sp>
      <p:sp>
        <p:nvSpPr>
          <p:cNvPr id="1422525636" name="TextBox 9"/>
          <p:cNvSpPr txBox="1"/>
          <p:nvPr/>
        </p:nvSpPr>
        <p:spPr bwMode="auto">
          <a:xfrm>
            <a:off x="4543425" y="4033837"/>
            <a:ext cx="65913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Fault-Tolerant Input: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Guarded against invalid inputs, boundary errors, and invalid payments.</a:t>
            </a:r>
            <a:endParaRPr/>
          </a:p>
        </p:txBody>
      </p:sp>
      <p:sp>
        <p:nvSpPr>
          <p:cNvPr id="881151919" name="TextBox 10"/>
          <p:cNvSpPr txBox="1"/>
          <p:nvPr/>
        </p:nvSpPr>
        <p:spPr bwMode="auto">
          <a:xfrm>
            <a:off x="4543425" y="4362450"/>
            <a:ext cx="65913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E2E8F0"/>
                </a:solidFill>
                <a:latin typeface="Plus Jakarta Sans"/>
              </a:rPr>
              <a:t>Future Scope:</a:t>
            </a:r>
            <a:r>
              <a:rPr sz="1150" b="0" i="0" u="none">
                <a:solidFill>
                  <a:srgbClr val="94A3B8"/>
                </a:solidFill>
                <a:latin typeface="Plus Jakarta Sans"/>
              </a:rPr>
              <a:t> SQLite database integration, multi-terminal network synchronization.</a:t>
            </a:r>
            <a:endParaRPr/>
          </a:p>
        </p:txBody>
      </p:sp>
      <p:sp>
        <p:nvSpPr>
          <p:cNvPr id="1572081327" name="TextBox 11"/>
          <p:cNvSpPr txBox="1"/>
          <p:nvPr/>
        </p:nvSpPr>
        <p:spPr bwMode="auto">
          <a:xfrm>
            <a:off x="4314825" y="3376612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683873759" name="TextBox 12"/>
          <p:cNvSpPr txBox="1"/>
          <p:nvPr/>
        </p:nvSpPr>
        <p:spPr bwMode="auto">
          <a:xfrm>
            <a:off x="4314825" y="3705225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898398785" name="TextBox 13"/>
          <p:cNvSpPr txBox="1"/>
          <p:nvPr/>
        </p:nvSpPr>
        <p:spPr bwMode="auto">
          <a:xfrm>
            <a:off x="4314825" y="4033837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1676254538" name="TextBox 14"/>
          <p:cNvSpPr txBox="1"/>
          <p:nvPr/>
        </p:nvSpPr>
        <p:spPr bwMode="auto">
          <a:xfrm>
            <a:off x="4314825" y="4362450"/>
            <a:ext cx="142875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  <a:defRPr/>
            </a:pPr>
            <a:r>
              <a:rPr sz="1150" b="1" i="0" u="none">
                <a:solidFill>
                  <a:srgbClr val="38BDF8"/>
                </a:solidFill>
                <a:latin typeface="Plus Jakarta Sans"/>
              </a:rPr>
              <a:t>→</a:t>
            </a:r>
            <a:endParaRPr/>
          </a:p>
        </p:txBody>
      </p:sp>
      <p:sp>
        <p:nvSpPr>
          <p:cNvPr id="1661498731" name="TextBox 15"/>
          <p:cNvSpPr txBox="1"/>
          <p:nvPr/>
        </p:nvSpPr>
        <p:spPr bwMode="auto">
          <a:xfrm>
            <a:off x="860375" y="485775"/>
            <a:ext cx="11331624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2550" b="1" i="0" u="none">
                <a:solidFill>
                  <a:srgbClr val="38BDF8"/>
                </a:solidFill>
                <a:latin typeface="Plus Jakarta Sans"/>
              </a:rPr>
              <a:t>Project Conclusion &amp; Key Achievements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F17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5839607" name="Picture 1" descr="image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32919837" name="Picture 2" descr="image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2409825" y="3767137"/>
            <a:ext cx="7372350" cy="457200"/>
          </a:xfrm>
          <a:prstGeom prst="rect">
            <a:avLst/>
          </a:prstGeom>
        </p:spPr>
      </p:pic>
      <p:pic>
        <p:nvPicPr>
          <p:cNvPr id="1039019499" name="Picture 3" descr="image.png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485775" y="2171700"/>
            <a:ext cx="3613100" cy="1281112"/>
          </a:xfrm>
          <a:prstGeom prst="rect">
            <a:avLst/>
          </a:prstGeom>
        </p:spPr>
      </p:pic>
      <p:pic>
        <p:nvPicPr>
          <p:cNvPr id="40812543" name="Picture 4" descr="image.png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4289375" y="2171700"/>
            <a:ext cx="3613100" cy="1281112"/>
          </a:xfrm>
          <a:prstGeom prst="rect">
            <a:avLst/>
          </a:prstGeom>
        </p:spPr>
      </p:pic>
      <p:pic>
        <p:nvPicPr>
          <p:cNvPr id="1806051679" name="Picture 5" descr="image.png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092975" y="2171700"/>
            <a:ext cx="3613100" cy="1281112"/>
          </a:xfrm>
          <a:prstGeom prst="rect">
            <a:avLst/>
          </a:prstGeom>
        </p:spPr>
      </p:pic>
      <p:sp>
        <p:nvSpPr>
          <p:cNvPr id="1725450963" name="TextBox 6"/>
          <p:cNvSpPr txBox="1"/>
          <p:nvPr/>
        </p:nvSpPr>
        <p:spPr bwMode="auto">
          <a:xfrm>
            <a:off x="3240018" y="485775"/>
            <a:ext cx="571196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defRPr/>
            </a:pPr>
            <a:r>
              <a:rPr sz="3900" b="1" i="0" u="none">
                <a:solidFill>
                  <a:srgbClr val="38BDF8"/>
                </a:solidFill>
                <a:latin typeface="Plus Jakarta Sans"/>
              </a:rPr>
              <a:t>Questions &amp; Discussion</a:t>
            </a:r>
            <a:endParaRPr/>
          </a:p>
        </p:txBody>
      </p:sp>
      <p:sp>
        <p:nvSpPr>
          <p:cNvPr id="703450906" name="TextBox 7"/>
          <p:cNvSpPr txBox="1"/>
          <p:nvPr/>
        </p:nvSpPr>
        <p:spPr bwMode="auto">
          <a:xfrm>
            <a:off x="2190750" y="1285875"/>
            <a:ext cx="7810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  <a:defRPr/>
            </a:pPr>
            <a:r>
              <a:rPr sz="1500" b="0" i="0" u="none">
                <a:solidFill>
                  <a:srgbClr val="CBD5E1"/>
                </a:solidFill>
                <a:latin typeface="Plus Jakarta Sans"/>
              </a:rPr>
              <a:t>Thank you for your time and attention! We welcome any questions regarding BiteKing POS, software class design, C++ implementation, or Qt GUI design.</a:t>
            </a:r>
            <a:endParaRPr/>
          </a:p>
        </p:txBody>
      </p:sp>
      <p:sp>
        <p:nvSpPr>
          <p:cNvPr id="1924271330" name="TextBox 8"/>
          <p:cNvSpPr txBox="1"/>
          <p:nvPr/>
        </p:nvSpPr>
        <p:spPr bwMode="auto">
          <a:xfrm>
            <a:off x="892373" y="2371725"/>
            <a:ext cx="31568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 i="0" u="none">
                <a:solidFill>
                  <a:srgbClr val="38BDF8"/>
                </a:solidFill>
                <a:latin typeface="Plus Jakarta Sans"/>
              </a:rPr>
              <a:t>C++ Architecture Topics</a:t>
            </a:r>
            <a:endParaRPr/>
          </a:p>
        </p:txBody>
      </p:sp>
      <p:sp>
        <p:nvSpPr>
          <p:cNvPr id="587402816" name="TextBox 9"/>
          <p:cNvSpPr txBox="1"/>
          <p:nvPr/>
        </p:nvSpPr>
        <p:spPr bwMode="auto">
          <a:xfrm>
            <a:off x="685800" y="2647949"/>
            <a:ext cx="3213050" cy="604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defRPr/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Smart Pointers (unique_ptr vs shared_ptr), Abstract Base Classes, and Template SFINAE Engine.</a:t>
            </a:r>
            <a:endParaRPr/>
          </a:p>
        </p:txBody>
      </p:sp>
      <p:sp>
        <p:nvSpPr>
          <p:cNvPr id="414590266" name="TextBox 10"/>
          <p:cNvSpPr txBox="1"/>
          <p:nvPr/>
        </p:nvSpPr>
        <p:spPr bwMode="auto">
          <a:xfrm>
            <a:off x="4715023" y="2371725"/>
            <a:ext cx="3136798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 i="0" u="none">
                <a:solidFill>
                  <a:srgbClr val="38BDF8"/>
                </a:solidFill>
                <a:latin typeface="Plus Jakarta Sans"/>
              </a:rPr>
              <a:t>Qt GUI &amp; Styling</a:t>
            </a:r>
            <a:endParaRPr/>
          </a:p>
        </p:txBody>
      </p:sp>
      <p:sp>
        <p:nvSpPr>
          <p:cNvPr id="2030002135" name="TextBox 11"/>
          <p:cNvSpPr txBox="1"/>
          <p:nvPr/>
        </p:nvSpPr>
        <p:spPr bwMode="auto">
          <a:xfrm>
            <a:off x="4489400" y="2647949"/>
            <a:ext cx="3213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defRPr/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Signals &amp; Slots, QSS Theme Switcher, Custom Event Handling, and Table View State Updates.</a:t>
            </a:r>
            <a:endParaRPr/>
          </a:p>
        </p:txBody>
      </p:sp>
      <p:sp>
        <p:nvSpPr>
          <p:cNvPr id="1097369572" name="TextBox 12"/>
          <p:cNvSpPr txBox="1"/>
          <p:nvPr/>
        </p:nvSpPr>
        <p:spPr bwMode="auto">
          <a:xfrm>
            <a:off x="8556724" y="2371725"/>
            <a:ext cx="3096793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/>
            </a:pPr>
            <a:r>
              <a:rPr sz="1200" b="1" i="0" u="none">
                <a:solidFill>
                  <a:srgbClr val="38BDF8"/>
                </a:solidFill>
                <a:latin typeface="Plus Jakarta Sans"/>
              </a:rPr>
              <a:t>Technical Q&amp;A Spot</a:t>
            </a:r>
            <a:endParaRPr/>
          </a:p>
        </p:txBody>
      </p:sp>
      <p:sp>
        <p:nvSpPr>
          <p:cNvPr id="809753727" name="TextBox 13"/>
          <p:cNvSpPr txBox="1"/>
          <p:nvPr/>
        </p:nvSpPr>
        <p:spPr bwMode="auto">
          <a:xfrm>
            <a:off x="8293000" y="2647949"/>
            <a:ext cx="3213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  <a:defRPr/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[ Blank spot reserved for specific instructor or audience discussion questions ]</a:t>
            </a:r>
            <a:endParaRPr/>
          </a:p>
        </p:txBody>
      </p:sp>
      <p:pic>
        <p:nvPicPr>
          <p:cNvPr id="84695778" name="Picture 14" descr="image.png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685800" y="2395537"/>
            <a:ext cx="130373" cy="152400"/>
          </a:xfrm>
          <a:prstGeom prst="rect">
            <a:avLst/>
          </a:prstGeom>
        </p:spPr>
      </p:pic>
      <p:pic>
        <p:nvPicPr>
          <p:cNvPr id="1298332405" name="Picture 15" descr="image.png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4489400" y="2395537"/>
            <a:ext cx="149423" cy="152400"/>
          </a:xfrm>
          <a:prstGeom prst="rect">
            <a:avLst/>
          </a:prstGeom>
        </p:spPr>
      </p:pic>
      <p:pic>
        <p:nvPicPr>
          <p:cNvPr id="1352204829" name="Picture 16" descr="image.png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8293000" y="2395537"/>
            <a:ext cx="187523" cy="15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/>
  <cp:revision>27</cp:revision>
  <dcterms:created xsi:type="dcterms:W3CDTF">2013-01-27T09:14:16Z</dcterms:created>
  <dcterms:modified xsi:type="dcterms:W3CDTF">2026-08-12T19:03:08Z</dcterms:modified>
  <cp:category/>
</cp:coreProperties>
</file>